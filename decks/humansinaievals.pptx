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I am not arguing humans do everything. The question is which parts of an eval degrade without a human, and how you buy that human input efficiently. That is what I want your input 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framing: I have been the buyer. At Google I validated alternative rater vendors and rebuilt pipelines around them, which is why I care about measured accuracy rather than headline rates. Mention the Gemini technical report citation only if it comes up naturally.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shared vocabulary before the argument. Three components, and I will walk each one asking the same question: what breaks if no human touches this? Each component has a distinct failure mode when no human is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generation is cheap, targeting is not. An LLM can produce ten thousand prompts, but it cannot tell you whether that distribution matches your users or your roadmap. Regression sets from real traffic are non-negotiable.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quantitative case for the previous slide. The variance benefit from stratification is real but second-order — roughly four percent here. The first-order effect is bias: if the eval set mix does not match the use-case distribution you care about, the metric is simply wrong, and buying more labels drives error toward the wrong number faster. Only a human can specify the strata and their weights, because that comes from traffic analysis and product intent, not from the data itself. Fisch et al. 2024 (StratPPI) shows the same stratification logic also tightens hybrid human/autorater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Strongest slide in the deck. The self-consistency point usually lands hardest: if the LLM writes ground truth and the LLM grades it, you have measured agreement with yourself, not correctness. The Honeywell quote is the human version of that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steelman the LLM-only case so the argument is credible. Then land the crux: stakes are continuous, not binary, so human review is a budget. Emphasize the win/loss review point — on any launch-relevant experiment somebody has to read the actual regressions and gains, because an aggregate delta hides which direction the errors run. Done rigorously that review both corrects the point estimate and determines CI width, which is the quantitative bridge to the vendor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quantitative core of the pitch. Illustrative numbers: 8 percent judge-human disagreement, a 6.5 point judge bias. The point is not the specific values but the shape — human review volume maps onto interval width through a known relationship, so 'how many raters do we need' is an answerable question rather than a negotiation. Note the crossover: reviewing too few items produces a correction noisier than the error being corrected, which is worse than not correcting at all. This is also the natural place to ask the vendor how they price tiers of review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is the concrete ask: N replications from the judge, agreement threshold against human expert labels before the metric is trusted. Close on communication, since even a fully automated pipeline ends with a person explaining results to other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selection criteria. Emphasize that I care about accuracy per dollar, not headline rater credentials — an ensemble of cheaper raters often beats a single expensive one, and I have internal benchmark numbers to compare against. Then transition: picking a vendor is the easy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ongoing program is where vendors actually differentiate. Push on specifics: what does your entrance exam look like, can you run blind GT sets we author, how do you surface flagged raters to us, and are you willing to tie quarterly bonuses to measured accuracy? Emphasize remediation over churn — replacing raters resets calibration and usually costs more than fixing the task. Close with the pilot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72E"/>
        </a:solidFill>
      </p:bgPr>
    </p:bg>
    <p:spTree>
      <p:nvGrpSpPr>
        <p:cNvPr id="1" name=""/>
        <p:cNvGrpSpPr/>
        <p:nvPr/>
      </p:nvGrpSpPr>
      <p:grpSpPr>
        <a:xfrm>
          <a:off x="0" y="0"/>
          <a:ext cx="0" cy="0"/>
          <a:chOff x="0" y="0"/>
          <a:chExt cx="0" cy="0"/>
        </a:xfrm>
      </p:grpSpPr>
      <p:sp>
        <p:nvSpPr>
          <p:cNvPr id="2" name="Shape 0"/>
          <p:cNvSpPr/>
          <p:nvPr/>
        </p:nvSpPr>
        <p:spPr>
          <a:xfrm>
            <a:off x="8641080" y="1280160"/>
            <a:ext cx="2743200" cy="2743200"/>
          </a:xfrm>
          <a:prstGeom prst="ellipse">
            <a:avLst/>
          </a:prstGeom>
          <a:solidFill>
            <a:srgbClr val="0F766E">
              <a:alpha val="82000"/>
            </a:srgbClr>
          </a:solidFill>
          <a:ln/>
        </p:spPr>
      </p:sp>
      <p:sp>
        <p:nvSpPr>
          <p:cNvPr id="3" name="Shape 1"/>
          <p:cNvSpPr/>
          <p:nvPr/>
        </p:nvSpPr>
        <p:spPr>
          <a:xfrm>
            <a:off x="9601200" y="2697480"/>
            <a:ext cx="2560320" cy="2560320"/>
          </a:xfrm>
          <a:prstGeom prst="ellipse">
            <a:avLst/>
          </a:prstGeom>
          <a:solidFill>
            <a:srgbClr val="D97706">
              <a:alpha val="88000"/>
            </a:srgbClr>
          </a:solidFill>
          <a:ln/>
        </p:spPr>
      </p:sp>
      <p:pic>
        <p:nvPicPr>
          <p:cNvPr id="4" name="Image 0" descr="preencoded.png">    </p:cNvPr>
          <p:cNvPicPr>
            <a:picLocks noChangeAspect="1"/>
          </p:cNvPicPr>
          <p:nvPr/>
        </p:nvPicPr>
        <p:blipFill>
          <a:blip r:embed="rId1"/>
          <a:stretch>
            <a:fillRect/>
          </a:stretch>
        </p:blipFill>
        <p:spPr>
          <a:xfrm>
            <a:off x="9555480" y="2194560"/>
            <a:ext cx="914400" cy="914400"/>
          </a:xfrm>
          <a:prstGeom prst="rect">
            <a:avLst/>
          </a:prstGeom>
        </p:spPr>
      </p:pic>
      <p:pic>
        <p:nvPicPr>
          <p:cNvPr id="5" name="Image 1" descr="preencoded.png">    </p:cNvPr>
          <p:cNvPicPr>
            <a:picLocks noChangeAspect="1"/>
          </p:cNvPicPr>
          <p:nvPr/>
        </p:nvPicPr>
        <p:blipFill>
          <a:blip r:embed="rId2"/>
          <a:stretch>
            <a:fillRect/>
          </a:stretch>
        </p:blipFill>
        <p:spPr>
          <a:xfrm>
            <a:off x="10424160" y="3520440"/>
            <a:ext cx="914400" cy="914400"/>
          </a:xfrm>
          <a:prstGeom prst="rect">
            <a:avLst/>
          </a:prstGeom>
        </p:spPr>
      </p:pic>
      <p:sp>
        <p:nvSpPr>
          <p:cNvPr id="6" name="Text 2"/>
          <p:cNvSpPr/>
          <p:nvPr/>
        </p:nvSpPr>
        <p:spPr>
          <a:xfrm>
            <a:off x="685800" y="1417320"/>
            <a:ext cx="7315200" cy="320040"/>
          </a:xfrm>
          <a:prstGeom prst="rect">
            <a:avLst/>
          </a:prstGeom>
          <a:noFill/>
          <a:ln/>
        </p:spPr>
        <p:txBody>
          <a:bodyPr wrap="square" lIns="0" tIns="0" rIns="0" bIns="0" rtlCol="0" anchor="ctr"/>
          <a:lstStyle/>
          <a:p>
            <a:pPr indent="0" marL="0">
              <a:buNone/>
            </a:pPr>
            <a:r>
              <a:rPr lang="en-US" sz="1200" b="1" spc="300" kern="0" dirty="0">
                <a:solidFill>
                  <a:srgbClr val="D97706"/>
                </a:solidFill>
                <a:latin typeface="Calibri" pitchFamily="34" charset="0"/>
                <a:ea typeface="Calibri" pitchFamily="34" charset="-122"/>
                <a:cs typeface="Calibri" pitchFamily="34" charset="-120"/>
              </a:rPr>
              <a:t>VENDOR CONSULTATION  ·  AI EVALUATION</a:t>
            </a:r>
            <a:endParaRPr lang="en-US" sz="1200" dirty="0"/>
          </a:p>
        </p:txBody>
      </p:sp>
      <p:sp>
        <p:nvSpPr>
          <p:cNvPr id="7" name="Text 3"/>
          <p:cNvSpPr/>
          <p:nvPr/>
        </p:nvSpPr>
        <p:spPr>
          <a:xfrm>
            <a:off x="685800" y="1874520"/>
            <a:ext cx="7589520" cy="1371600"/>
          </a:xfrm>
          <a:prstGeom prst="rect">
            <a:avLst/>
          </a:prstGeom>
          <a:noFill/>
          <a:ln/>
        </p:spPr>
        <p:txBody>
          <a:bodyPr wrap="square" lIns="0" tIns="0" rIns="0" bIns="0" rtlCol="0" anchor="t"/>
          <a:lstStyle/>
          <a:p>
            <a:pPr indent="0" marL="0">
              <a:lnSpc>
                <a:spcPct val="106000"/>
              </a:lnSpc>
              <a:buNone/>
            </a:pPr>
            <a:r>
              <a:rPr lang="en-US" sz="3600" b="1" dirty="0">
                <a:solidFill>
                  <a:srgbClr val="FFFFFF"/>
                </a:solidFill>
                <a:latin typeface="Cambria" pitchFamily="34" charset="0"/>
                <a:ea typeface="Cambria" pitchFamily="34" charset="-122"/>
                <a:cs typeface="Cambria" pitchFamily="34" charset="-120"/>
              </a:rPr>
              <a:t>Where Are </a:t>
            </a:r>
            <a:pPr indent="0" marL="0">
              <a:lnSpc>
                <a:spcPct val="106000"/>
              </a:lnSpc>
              <a:buNone/>
            </a:pPr>
            <a:r>
              <a:rPr lang="en-US" sz="3600" b="1" dirty="0">
                <a:solidFill>
                  <a:srgbClr val="D97706"/>
                </a:solidFill>
                <a:latin typeface="Cambria" pitchFamily="34" charset="0"/>
                <a:ea typeface="Cambria" pitchFamily="34" charset="-122"/>
                <a:cs typeface="Cambria" pitchFamily="34" charset="-120"/>
              </a:rPr>
              <a:t>Humans</a:t>
            </a:r>
            <a:pPr indent="0" marL="0">
              <a:lnSpc>
                <a:spcPct val="106000"/>
              </a:lnSpc>
              <a:buNone/>
            </a:pPr>
            <a:r>
              <a:rPr lang="en-US" sz="3600" b="1" dirty="0">
                <a:solidFill>
                  <a:srgbClr val="FFFFFF"/>
                </a:solidFill>
                <a:latin typeface="Cambria" pitchFamily="34" charset="0"/>
                <a:ea typeface="Cambria" pitchFamily="34" charset="-122"/>
                <a:cs typeface="Cambria" pitchFamily="34" charset="-120"/>
              </a:rPr>
              <a:t> Still in the Loop — and How Do We Choose Them?</a:t>
            </a:r>
            <a:endParaRPr lang="en-US" sz="3600" dirty="0"/>
          </a:p>
        </p:txBody>
      </p:sp>
      <p:sp>
        <p:nvSpPr>
          <p:cNvPr id="8" name="Text 4"/>
          <p:cNvSpPr/>
          <p:nvPr/>
        </p:nvSpPr>
        <p:spPr>
          <a:xfrm>
            <a:off x="713232" y="3383280"/>
            <a:ext cx="7498080" cy="685800"/>
          </a:xfrm>
          <a:prstGeom prst="rect">
            <a:avLst/>
          </a:prstGeom>
          <a:noFill/>
          <a:ln/>
        </p:spPr>
        <p:txBody>
          <a:bodyPr wrap="square" lIns="0" tIns="0" rIns="0" bIns="0" rtlCol="0" anchor="t"/>
          <a:lstStyle/>
          <a:p>
            <a:pPr indent="0" marL="0">
              <a:lnSpc>
                <a:spcPct val="110000"/>
              </a:lnSpc>
              <a:buNone/>
            </a:pPr>
            <a:r>
              <a:rPr lang="en-US" sz="1800" i="1" dirty="0">
                <a:solidFill>
                  <a:srgbClr val="C9D2DC"/>
                </a:solidFill>
                <a:latin typeface="Calibri" pitchFamily="34" charset="0"/>
                <a:ea typeface="Calibri" pitchFamily="34" charset="-122"/>
                <a:cs typeface="Calibri" pitchFamily="34" charset="-120"/>
              </a:rPr>
              <a:t>Ideate, review, polish, and communicate — and what that means for a rating partner</a:t>
            </a:r>
            <a:endParaRPr lang="en-US" sz="1800" dirty="0"/>
          </a:p>
        </p:txBody>
      </p:sp>
      <p:sp>
        <p:nvSpPr>
          <p:cNvPr id="9" name="Text 5"/>
          <p:cNvSpPr/>
          <p:nvPr/>
        </p:nvSpPr>
        <p:spPr>
          <a:xfrm>
            <a:off x="713232" y="5989320"/>
            <a:ext cx="8229600" cy="365760"/>
          </a:xfrm>
          <a:prstGeom prst="rect">
            <a:avLst/>
          </a:prstGeom>
          <a:noFill/>
          <a:ln/>
        </p:spPr>
        <p:txBody>
          <a:bodyPr wrap="square" lIns="0" tIns="0" rIns="0" bIns="0" rtlCol="0" anchor="ctr"/>
          <a:lstStyle/>
          <a:p>
            <a:pPr indent="0" marL="0">
              <a:buNone/>
            </a:pPr>
            <a:r>
              <a:rPr lang="en-US" sz="1400" dirty="0">
                <a:solidFill>
                  <a:srgbClr val="C9D2DC"/>
                </a:solidFill>
                <a:latin typeface="Calibri" pitchFamily="34" charset="0"/>
                <a:ea typeface="Calibri" pitchFamily="34" charset="-122"/>
                <a:cs typeface="Calibri" pitchFamily="34" charset="-120"/>
              </a:rPr>
              <a:t>Ryan Foley  ·  Principal Applied Scientist, AI Data Science  ·  August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10972800" cy="274320"/>
          </a:xfrm>
          <a:prstGeom prst="rect">
            <a:avLst/>
          </a:prstGeom>
          <a:noFill/>
          <a:ln/>
        </p:spPr>
        <p:txBody>
          <a:bodyPr wrap="square" lIns="0" tIns="0" rIns="0" bIns="0" rtlCol="0" anchor="ctr"/>
          <a:lstStyle/>
          <a:p>
            <a:pPr indent="0" marL="0">
              <a:buNone/>
            </a:pPr>
            <a:r>
              <a:rPr lang="en-US" sz="1100" b="1" spc="300" kern="0" dirty="0">
                <a:solidFill>
                  <a:srgbClr val="D97706"/>
                </a:solidFill>
                <a:latin typeface="Calibri" pitchFamily="34" charset="0"/>
                <a:ea typeface="Calibri" pitchFamily="34" charset="-122"/>
                <a:cs typeface="Calibri" pitchFamily="34" charset="-120"/>
              </a:rPr>
              <a:t>WHO YOU'RE TALKING TO</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23272E"/>
                </a:solidFill>
                <a:latin typeface="Cambria" pitchFamily="34" charset="0"/>
                <a:ea typeface="Cambria" pitchFamily="34" charset="-122"/>
                <a:cs typeface="Cambria" pitchFamily="34" charset="-120"/>
              </a:rPr>
              <a:t>About Me — A Decade-Plus of Human + Model Evaluation</a:t>
            </a:r>
            <a:endParaRPr lang="en-US" sz="3000" dirty="0"/>
          </a:p>
        </p:txBody>
      </p:sp>
      <p:sp>
        <p:nvSpPr>
          <p:cNvPr id="4" name="Text 2"/>
          <p:cNvSpPr/>
          <p:nvPr/>
        </p:nvSpPr>
        <p:spPr>
          <a:xfrm>
            <a:off x="566928" y="1325880"/>
            <a:ext cx="6035040" cy="365760"/>
          </a:xfrm>
          <a:prstGeom prst="rect">
            <a:avLst/>
          </a:prstGeom>
          <a:noFill/>
          <a:ln/>
        </p:spPr>
        <p:txBody>
          <a:bodyPr wrap="square" lIns="0" tIns="0" rIns="0" bIns="0" rtlCol="0" anchor="ctr"/>
          <a:lstStyle/>
          <a:p>
            <a:pPr indent="0" marL="0">
              <a:buNone/>
            </a:pPr>
            <a:r>
              <a:rPr lang="en-US" sz="2000" b="1" dirty="0">
                <a:solidFill>
                  <a:srgbClr val="23272E"/>
                </a:solidFill>
                <a:latin typeface="Cambria" pitchFamily="34" charset="0"/>
                <a:ea typeface="Cambria" pitchFamily="34" charset="-122"/>
                <a:cs typeface="Cambria" pitchFamily="34" charset="-120"/>
              </a:rPr>
              <a:t>Ryan Foley</a:t>
            </a:r>
            <a:endParaRPr lang="en-US" sz="2000" dirty="0"/>
          </a:p>
        </p:txBody>
      </p:sp>
      <p:sp>
        <p:nvSpPr>
          <p:cNvPr id="5" name="Text 3"/>
          <p:cNvSpPr/>
          <p:nvPr/>
        </p:nvSpPr>
        <p:spPr>
          <a:xfrm>
            <a:off x="566928" y="1691640"/>
            <a:ext cx="5943600" cy="914400"/>
          </a:xfrm>
          <a:prstGeom prst="rect">
            <a:avLst/>
          </a:prstGeom>
          <a:noFill/>
          <a:ln/>
        </p:spPr>
        <p:txBody>
          <a:bodyPr wrap="square" lIns="0" tIns="0" rIns="0" bIns="0" rtlCol="0" anchor="ctr"/>
          <a:lstStyle/>
          <a:p>
            <a:pPr indent="0" marL="0">
              <a:lnSpc>
                <a:spcPct val="115000"/>
              </a:lnSpc>
              <a:buNone/>
            </a:pPr>
            <a:r>
              <a:rPr lang="en-US" sz="1300" b="1" dirty="0">
                <a:solidFill>
                  <a:srgbClr val="23272E"/>
                </a:solidFill>
                <a:latin typeface="Calibri" pitchFamily="34" charset="0"/>
                <a:ea typeface="Calibri" pitchFamily="34" charset="-122"/>
                <a:cs typeface="Calibri" pitchFamily="34" charset="-120"/>
              </a:rPr>
              <a:t>Principal Applied Scientist, AI Data Science — Microsoft (Azure)</a:t>
            </a:r>
            <a:endParaRPr lang="en-US" sz="1300" dirty="0"/>
          </a:p>
          <a:p>
            <a:pPr indent="0" marL="0">
              <a:lnSpc>
                <a:spcPct val="115000"/>
              </a:lnSpc>
              <a:buNone/>
            </a:pPr>
            <a:r>
              <a:rPr lang="en-US" sz="1300" dirty="0">
                <a:solidFill>
                  <a:srgbClr val="6B7280"/>
                </a:solidFill>
                <a:latin typeface="Calibri" pitchFamily="34" charset="0"/>
                <a:ea typeface="Calibri" pitchFamily="34" charset="-122"/>
                <a:cs typeface="Calibri" pitchFamily="34" charset="-120"/>
              </a:rPr>
              <a:t>Previously Staff Data Scientist, Google — 12 years across Gemini, Assistant &amp; Search</a:t>
            </a:r>
            <a:endParaRPr lang="en-US" sz="1300" dirty="0"/>
          </a:p>
          <a:p>
            <a:pPr indent="0" marL="0">
              <a:lnSpc>
                <a:spcPct val="115000"/>
              </a:lnSpc>
              <a:buNone/>
            </a:pPr>
            <a:r>
              <a:rPr lang="en-US" sz="1300" dirty="0">
                <a:solidFill>
                  <a:srgbClr val="6B7280"/>
                </a:solidFill>
                <a:latin typeface="Calibri" pitchFamily="34" charset="0"/>
                <a:ea typeface="Calibri" pitchFamily="34" charset="-122"/>
                <a:cs typeface="Calibri" pitchFamily="34" charset="-120"/>
              </a:rPr>
              <a:t>M.S. Statistics, Stanford  ·  B.S. Financial Math &amp; Statistics, UCSB (Highest Honors)</a:t>
            </a:r>
            <a:endParaRPr lang="en-US" sz="1300" dirty="0"/>
          </a:p>
        </p:txBody>
      </p:sp>
      <p:sp>
        <p:nvSpPr>
          <p:cNvPr id="6" name="Text 4"/>
          <p:cNvSpPr/>
          <p:nvPr/>
        </p:nvSpPr>
        <p:spPr>
          <a:xfrm>
            <a:off x="566928" y="2788920"/>
            <a:ext cx="6126480" cy="3566160"/>
          </a:xfrm>
          <a:prstGeom prst="rect">
            <a:avLst/>
          </a:prstGeom>
          <a:noFill/>
          <a:ln/>
        </p:spPr>
        <p:txBody>
          <a:bodyPr wrap="square" lIns="0" tIns="0" rIns="0" bIns="0" rtlCol="0" anchor="t"/>
          <a:lstStyle/>
          <a:p>
            <a:pPr marL="177800" indent="-177800">
              <a:lnSpc>
                <a:spcPct val="108000"/>
              </a:lnSpc>
              <a:spcAft>
                <a:spcPts val="800"/>
              </a:spcAft>
              <a:buSzPct val="100000"/>
              <a:buChar char="•"/>
            </a:pPr>
            <a:r>
              <a:rPr lang="en-US" sz="1350" dirty="0">
                <a:solidFill>
                  <a:srgbClr val="23272E"/>
                </a:solidFill>
                <a:latin typeface="Calibri" pitchFamily="34" charset="0"/>
                <a:ea typeface="Calibri" pitchFamily="34" charset="-122"/>
                <a:cs typeface="Calibri" pitchFamily="34" charset="-120"/>
              </a:rPr>
              <a:t>Led Gemini Factuality evaluation: novel rating methodology, eval sets, and metrics adopted into the core release process; cited contributor to the Gemini technical report</a:t>
            </a:r>
            <a:endParaRPr lang="en-US" sz="1350" dirty="0"/>
          </a:p>
          <a:p>
            <a:pPr marL="177800" indent="-177800">
              <a:lnSpc>
                <a:spcPct val="108000"/>
              </a:lnSpc>
              <a:spcAft>
                <a:spcPts val="800"/>
              </a:spcAft>
              <a:buSzPct val="100000"/>
              <a:buChar char="•"/>
            </a:pPr>
            <a:r>
              <a:rPr lang="en-US" sz="1350" dirty="0">
                <a:solidFill>
                  <a:srgbClr val="23272E"/>
                </a:solidFill>
                <a:latin typeface="Calibri" pitchFamily="34" charset="0"/>
                <a:ea typeface="Calibri" pitchFamily="34" charset="-122"/>
                <a:cs typeface="Calibri" pitchFamily="34" charset="-120"/>
              </a:rPr>
              <a:t>Validated alternative rater vendors, calibrated metrics, and stood up new rating pipelines — deep experience on the buyer side of the human-rating market</a:t>
            </a:r>
            <a:endParaRPr lang="en-US" sz="1350" dirty="0"/>
          </a:p>
          <a:p>
            <a:pPr marL="177800" indent="-177800">
              <a:lnSpc>
                <a:spcPct val="108000"/>
              </a:lnSpc>
              <a:spcAft>
                <a:spcPts val="800"/>
              </a:spcAft>
              <a:buSzPct val="100000"/>
              <a:buChar char="•"/>
            </a:pPr>
            <a:r>
              <a:rPr lang="en-US" sz="1350" dirty="0">
                <a:solidFill>
                  <a:srgbClr val="23272E"/>
                </a:solidFill>
                <a:latin typeface="Calibri" pitchFamily="34" charset="0"/>
                <a:ea typeface="Calibri" pitchFamily="34" charset="-122"/>
                <a:cs typeface="Calibri" pitchFamily="34" charset="-120"/>
              </a:rPr>
              <a:t>Built hybrid auto/human evaluations and rater-quality models (accuracy by locale, systemic issue detection)</a:t>
            </a:r>
            <a:endParaRPr lang="en-US" sz="1350" dirty="0"/>
          </a:p>
          <a:p>
            <a:pPr marL="177800" indent="-177800">
              <a:lnSpc>
                <a:spcPct val="108000"/>
              </a:lnSpc>
              <a:spcAft>
                <a:spcPts val="800"/>
              </a:spcAft>
              <a:buSzPct val="100000"/>
              <a:buChar char="•"/>
            </a:pPr>
            <a:r>
              <a:rPr lang="en-US" sz="1350" dirty="0">
                <a:solidFill>
                  <a:srgbClr val="23272E"/>
                </a:solidFill>
                <a:latin typeface="Calibri" pitchFamily="34" charset="0"/>
                <a:ea typeface="Calibri" pitchFamily="34" charset="-122"/>
                <a:cs typeface="Calibri" pitchFamily="34" charset="-120"/>
              </a:rPr>
              <a:t>Evaluation consulting for 200+ launches, from Duplex to new Assistant surfaces; now building agent eval frameworks, synthetic prompt pipelines, and LLM-judge architectures</a:t>
            </a:r>
            <a:endParaRPr lang="en-US" sz="1350" dirty="0"/>
          </a:p>
        </p:txBody>
      </p:sp>
      <p:sp>
        <p:nvSpPr>
          <p:cNvPr id="7" name="Shape 5"/>
          <p:cNvSpPr/>
          <p:nvPr/>
        </p:nvSpPr>
        <p:spPr>
          <a:xfrm>
            <a:off x="6967728" y="1417320"/>
            <a:ext cx="2194560" cy="2286000"/>
          </a:xfrm>
          <a:prstGeom prst="roundRect">
            <a:avLst>
              <a:gd name="adj" fmla="val 3750"/>
            </a:avLst>
          </a:prstGeom>
          <a:solidFill>
            <a:srgbClr val="23272E"/>
          </a:solidFill>
          <a:ln w="19050">
            <a:solidFill>
              <a:srgbClr val="D97706"/>
            </a:solidFill>
            <a:prstDash val="solid"/>
          </a:ln>
        </p:spPr>
      </p:sp>
      <p:sp>
        <p:nvSpPr>
          <p:cNvPr id="8" name="Text 6"/>
          <p:cNvSpPr/>
          <p:nvPr/>
        </p:nvSpPr>
        <p:spPr>
          <a:xfrm>
            <a:off x="7150608" y="1645920"/>
            <a:ext cx="1828800" cy="777240"/>
          </a:xfrm>
          <a:prstGeom prst="rect">
            <a:avLst/>
          </a:prstGeom>
          <a:noFill/>
          <a:ln/>
        </p:spPr>
        <p:txBody>
          <a:bodyPr wrap="square" lIns="0" tIns="0" rIns="0" bIns="0" rtlCol="0" anchor="ctr"/>
          <a:lstStyle/>
          <a:p>
            <a:pPr indent="0" marL="0">
              <a:buNone/>
            </a:pPr>
            <a:r>
              <a:rPr lang="en-US" sz="4000" b="1" dirty="0">
                <a:solidFill>
                  <a:srgbClr val="D97706"/>
                </a:solidFill>
                <a:latin typeface="Cambria" pitchFamily="34" charset="0"/>
                <a:ea typeface="Cambria" pitchFamily="34" charset="-122"/>
                <a:cs typeface="Cambria" pitchFamily="34" charset="-120"/>
              </a:rPr>
              <a:t>12+</a:t>
            </a:r>
            <a:endParaRPr lang="en-US" sz="4000" dirty="0"/>
          </a:p>
        </p:txBody>
      </p:sp>
      <p:sp>
        <p:nvSpPr>
          <p:cNvPr id="9" name="Text 7"/>
          <p:cNvSpPr/>
          <p:nvPr/>
        </p:nvSpPr>
        <p:spPr>
          <a:xfrm>
            <a:off x="7150608" y="2468880"/>
            <a:ext cx="1828800" cy="1097280"/>
          </a:xfrm>
          <a:prstGeom prst="rect">
            <a:avLst/>
          </a:prstGeom>
          <a:noFill/>
          <a:ln/>
        </p:spPr>
        <p:txBody>
          <a:bodyPr wrap="square" lIns="0" tIns="0" rIns="0" bIns="0" rtlCol="0" anchor="t"/>
          <a:lstStyle/>
          <a:p>
            <a:pPr indent="0" marL="0">
              <a:lnSpc>
                <a:spcPct val="105000"/>
              </a:lnSpc>
              <a:buNone/>
            </a:pPr>
            <a:r>
              <a:rPr lang="en-US" sz="1200" dirty="0">
                <a:solidFill>
                  <a:srgbClr val="C9D2DC"/>
                </a:solidFill>
                <a:latin typeface="Calibri" pitchFamily="34" charset="0"/>
                <a:ea typeface="Calibri" pitchFamily="34" charset="-122"/>
                <a:cs typeface="Calibri" pitchFamily="34" charset="-120"/>
              </a:rPr>
              <a:t>years in evaluation &amp; metrics at Google and Microsoft</a:t>
            </a:r>
            <a:endParaRPr lang="en-US" sz="1200" dirty="0"/>
          </a:p>
        </p:txBody>
      </p:sp>
      <p:sp>
        <p:nvSpPr>
          <p:cNvPr id="10" name="Shape 8"/>
          <p:cNvSpPr/>
          <p:nvPr/>
        </p:nvSpPr>
        <p:spPr>
          <a:xfrm>
            <a:off x="9436608" y="1417320"/>
            <a:ext cx="2194560" cy="2286000"/>
          </a:xfrm>
          <a:prstGeom prst="roundRect">
            <a:avLst>
              <a:gd name="adj" fmla="val 3750"/>
            </a:avLst>
          </a:prstGeom>
          <a:solidFill>
            <a:srgbClr val="23272E"/>
          </a:solidFill>
          <a:ln w="19050">
            <a:solidFill>
              <a:srgbClr val="0F766E"/>
            </a:solidFill>
            <a:prstDash val="solid"/>
          </a:ln>
        </p:spPr>
      </p:sp>
      <p:sp>
        <p:nvSpPr>
          <p:cNvPr id="11" name="Text 9"/>
          <p:cNvSpPr/>
          <p:nvPr/>
        </p:nvSpPr>
        <p:spPr>
          <a:xfrm>
            <a:off x="9619488" y="1645920"/>
            <a:ext cx="1828800" cy="777240"/>
          </a:xfrm>
          <a:prstGeom prst="rect">
            <a:avLst/>
          </a:prstGeom>
          <a:noFill/>
          <a:ln/>
        </p:spPr>
        <p:txBody>
          <a:bodyPr wrap="square" lIns="0" tIns="0" rIns="0" bIns="0" rtlCol="0" anchor="ctr"/>
          <a:lstStyle/>
          <a:p>
            <a:pPr indent="0" marL="0">
              <a:buNone/>
            </a:pPr>
            <a:r>
              <a:rPr lang="en-US" sz="4000" b="1" dirty="0">
                <a:solidFill>
                  <a:srgbClr val="0F766E"/>
                </a:solidFill>
                <a:latin typeface="Cambria" pitchFamily="34" charset="0"/>
                <a:ea typeface="Cambria" pitchFamily="34" charset="-122"/>
                <a:cs typeface="Cambria" pitchFamily="34" charset="-120"/>
              </a:rPr>
              <a:t>3.5×</a:t>
            </a:r>
            <a:endParaRPr lang="en-US" sz="4000" dirty="0"/>
          </a:p>
        </p:txBody>
      </p:sp>
      <p:sp>
        <p:nvSpPr>
          <p:cNvPr id="12" name="Text 10"/>
          <p:cNvSpPr/>
          <p:nvPr/>
        </p:nvSpPr>
        <p:spPr>
          <a:xfrm>
            <a:off x="9619488" y="2468880"/>
            <a:ext cx="1828800" cy="1097280"/>
          </a:xfrm>
          <a:prstGeom prst="rect">
            <a:avLst/>
          </a:prstGeom>
          <a:noFill/>
          <a:ln/>
        </p:spPr>
        <p:txBody>
          <a:bodyPr wrap="square" lIns="0" tIns="0" rIns="0" bIns="0" rtlCol="0" anchor="t"/>
          <a:lstStyle/>
          <a:p>
            <a:pPr indent="0" marL="0">
              <a:lnSpc>
                <a:spcPct val="105000"/>
              </a:lnSpc>
              <a:buNone/>
            </a:pPr>
            <a:r>
              <a:rPr lang="en-US" sz="1200" dirty="0">
                <a:solidFill>
                  <a:srgbClr val="C9D2DC"/>
                </a:solidFill>
                <a:latin typeface="Calibri" pitchFamily="34" charset="0"/>
                <a:ea typeface="Calibri" pitchFamily="34" charset="-122"/>
                <a:cs typeface="Calibri" pitchFamily="34" charset="-120"/>
              </a:rPr>
              <a:t>rater recall lift from a redesigned rating methodology</a:t>
            </a:r>
            <a:endParaRPr lang="en-US" sz="1200" dirty="0"/>
          </a:p>
        </p:txBody>
      </p:sp>
      <p:sp>
        <p:nvSpPr>
          <p:cNvPr id="13" name="Shape 11"/>
          <p:cNvSpPr/>
          <p:nvPr/>
        </p:nvSpPr>
        <p:spPr>
          <a:xfrm>
            <a:off x="6967728" y="3977640"/>
            <a:ext cx="2194560" cy="2286000"/>
          </a:xfrm>
          <a:prstGeom prst="roundRect">
            <a:avLst>
              <a:gd name="adj" fmla="val 3750"/>
            </a:avLst>
          </a:prstGeom>
          <a:solidFill>
            <a:srgbClr val="23272E"/>
          </a:solidFill>
          <a:ln w="19050">
            <a:solidFill>
              <a:srgbClr val="0F766E"/>
            </a:solidFill>
            <a:prstDash val="solid"/>
          </a:ln>
        </p:spPr>
      </p:sp>
      <p:sp>
        <p:nvSpPr>
          <p:cNvPr id="14" name="Text 12"/>
          <p:cNvSpPr/>
          <p:nvPr/>
        </p:nvSpPr>
        <p:spPr>
          <a:xfrm>
            <a:off x="7150608" y="4206240"/>
            <a:ext cx="1828800" cy="777240"/>
          </a:xfrm>
          <a:prstGeom prst="rect">
            <a:avLst/>
          </a:prstGeom>
          <a:noFill/>
          <a:ln/>
        </p:spPr>
        <p:txBody>
          <a:bodyPr wrap="square" lIns="0" tIns="0" rIns="0" bIns="0" rtlCol="0" anchor="ctr"/>
          <a:lstStyle/>
          <a:p>
            <a:pPr indent="0" marL="0">
              <a:buNone/>
            </a:pPr>
            <a:r>
              <a:rPr lang="en-US" sz="4000" b="1" dirty="0">
                <a:solidFill>
                  <a:srgbClr val="0F766E"/>
                </a:solidFill>
                <a:latin typeface="Cambria" pitchFamily="34" charset="0"/>
                <a:ea typeface="Cambria" pitchFamily="34" charset="-122"/>
                <a:cs typeface="Cambria" pitchFamily="34" charset="-120"/>
              </a:rPr>
              <a:t>2×</a:t>
            </a:r>
            <a:endParaRPr lang="en-US" sz="4000" dirty="0"/>
          </a:p>
        </p:txBody>
      </p:sp>
      <p:sp>
        <p:nvSpPr>
          <p:cNvPr id="15" name="Text 13"/>
          <p:cNvSpPr/>
          <p:nvPr/>
        </p:nvSpPr>
        <p:spPr>
          <a:xfrm>
            <a:off x="7150608" y="5029200"/>
            <a:ext cx="1828800" cy="1097280"/>
          </a:xfrm>
          <a:prstGeom prst="rect">
            <a:avLst/>
          </a:prstGeom>
          <a:noFill/>
          <a:ln/>
        </p:spPr>
        <p:txBody>
          <a:bodyPr wrap="square" lIns="0" tIns="0" rIns="0" bIns="0" rtlCol="0" anchor="t"/>
          <a:lstStyle/>
          <a:p>
            <a:pPr indent="0" marL="0">
              <a:lnSpc>
                <a:spcPct val="105000"/>
              </a:lnSpc>
              <a:buNone/>
            </a:pPr>
            <a:r>
              <a:rPr lang="en-US" sz="1200" dirty="0">
                <a:solidFill>
                  <a:srgbClr val="C9D2DC"/>
                </a:solidFill>
                <a:latin typeface="Calibri" pitchFamily="34" charset="0"/>
                <a:ea typeface="Calibri" pitchFamily="34" charset="-122"/>
                <a:cs typeface="Calibri" pitchFamily="34" charset="-120"/>
              </a:rPr>
              <a:t>lift in fully-accurate response rate within one year</a:t>
            </a:r>
            <a:endParaRPr lang="en-US" sz="1200" dirty="0"/>
          </a:p>
        </p:txBody>
      </p:sp>
      <p:sp>
        <p:nvSpPr>
          <p:cNvPr id="16" name="Shape 14"/>
          <p:cNvSpPr/>
          <p:nvPr/>
        </p:nvSpPr>
        <p:spPr>
          <a:xfrm>
            <a:off x="9436608" y="3977640"/>
            <a:ext cx="2194560" cy="2286000"/>
          </a:xfrm>
          <a:prstGeom prst="roundRect">
            <a:avLst>
              <a:gd name="adj" fmla="val 3750"/>
            </a:avLst>
          </a:prstGeom>
          <a:solidFill>
            <a:srgbClr val="23272E"/>
          </a:solidFill>
          <a:ln w="19050">
            <a:solidFill>
              <a:srgbClr val="D97706"/>
            </a:solidFill>
            <a:prstDash val="solid"/>
          </a:ln>
        </p:spPr>
      </p:sp>
      <p:sp>
        <p:nvSpPr>
          <p:cNvPr id="17" name="Text 15"/>
          <p:cNvSpPr/>
          <p:nvPr/>
        </p:nvSpPr>
        <p:spPr>
          <a:xfrm>
            <a:off x="9619488" y="4206240"/>
            <a:ext cx="1828800" cy="777240"/>
          </a:xfrm>
          <a:prstGeom prst="rect">
            <a:avLst/>
          </a:prstGeom>
          <a:noFill/>
          <a:ln/>
        </p:spPr>
        <p:txBody>
          <a:bodyPr wrap="square" lIns="0" tIns="0" rIns="0" bIns="0" rtlCol="0" anchor="ctr"/>
          <a:lstStyle/>
          <a:p>
            <a:pPr indent="0" marL="0">
              <a:buNone/>
            </a:pPr>
            <a:r>
              <a:rPr lang="en-US" sz="4000" b="1" dirty="0">
                <a:solidFill>
                  <a:srgbClr val="D97706"/>
                </a:solidFill>
                <a:latin typeface="Cambria" pitchFamily="34" charset="0"/>
                <a:ea typeface="Cambria" pitchFamily="34" charset="-122"/>
                <a:cs typeface="Cambria" pitchFamily="34" charset="-120"/>
              </a:rPr>
              <a:t>200+</a:t>
            </a:r>
            <a:endParaRPr lang="en-US" sz="4000" dirty="0"/>
          </a:p>
        </p:txBody>
      </p:sp>
      <p:sp>
        <p:nvSpPr>
          <p:cNvPr id="18" name="Text 16"/>
          <p:cNvSpPr/>
          <p:nvPr/>
        </p:nvSpPr>
        <p:spPr>
          <a:xfrm>
            <a:off x="9619488" y="5029200"/>
            <a:ext cx="1828800" cy="1097280"/>
          </a:xfrm>
          <a:prstGeom prst="rect">
            <a:avLst/>
          </a:prstGeom>
          <a:noFill/>
          <a:ln/>
        </p:spPr>
        <p:txBody>
          <a:bodyPr wrap="square" lIns="0" tIns="0" rIns="0" bIns="0" rtlCol="0" anchor="t"/>
          <a:lstStyle/>
          <a:p>
            <a:pPr indent="0" marL="0">
              <a:lnSpc>
                <a:spcPct val="105000"/>
              </a:lnSpc>
              <a:buNone/>
            </a:pPr>
            <a:r>
              <a:rPr lang="en-US" sz="1200" dirty="0">
                <a:solidFill>
                  <a:srgbClr val="C9D2DC"/>
                </a:solidFill>
                <a:latin typeface="Calibri" pitchFamily="34" charset="0"/>
                <a:ea typeface="Calibri" pitchFamily="34" charset="-122"/>
                <a:cs typeface="Calibri" pitchFamily="34" charset="-120"/>
              </a:rPr>
              <a:t>launches supported with eval sets, SxS &amp; analysis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10972800" cy="274320"/>
          </a:xfrm>
          <a:prstGeom prst="rect">
            <a:avLst/>
          </a:prstGeom>
          <a:noFill/>
          <a:ln/>
        </p:spPr>
        <p:txBody>
          <a:bodyPr wrap="square" lIns="0" tIns="0" rIns="0" bIns="0" rtlCol="0" anchor="ctr"/>
          <a:lstStyle/>
          <a:p>
            <a:pPr indent="0" marL="0">
              <a:buNone/>
            </a:pPr>
            <a:r>
              <a:rPr lang="en-US" sz="1100" b="1" spc="300" kern="0" dirty="0">
                <a:solidFill>
                  <a:srgbClr val="D97706"/>
                </a:solidFill>
                <a:latin typeface="Calibri" pitchFamily="34" charset="0"/>
                <a:ea typeface="Calibri" pitchFamily="34" charset="-122"/>
                <a:cs typeface="Calibri" pitchFamily="34" charset="-120"/>
              </a:rPr>
              <a:t>SHARED VOCABULARY</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23272E"/>
                </a:solidFill>
                <a:latin typeface="Cambria" pitchFamily="34" charset="0"/>
                <a:ea typeface="Cambria" pitchFamily="34" charset="-122"/>
                <a:cs typeface="Cambria" pitchFamily="34" charset="-120"/>
              </a:rPr>
              <a:t>Components of an Eval</a:t>
            </a:r>
            <a:endParaRPr lang="en-US" sz="3000" dirty="0"/>
          </a:p>
        </p:txBody>
      </p:sp>
      <p:sp>
        <p:nvSpPr>
          <p:cNvPr id="4" name="Shape 2"/>
          <p:cNvSpPr/>
          <p:nvPr/>
        </p:nvSpPr>
        <p:spPr>
          <a:xfrm>
            <a:off x="516636" y="1828800"/>
            <a:ext cx="3383280" cy="2971800"/>
          </a:xfrm>
          <a:prstGeom prst="roundRect">
            <a:avLst>
              <a:gd name="adj" fmla="val 3077"/>
            </a:avLst>
          </a:prstGeom>
          <a:solidFill>
            <a:srgbClr val="EEF0F3"/>
          </a:solidFill>
          <a:ln w="12700">
            <a:solidFill>
              <a:srgbClr val="D8DCE1"/>
            </a:solidFill>
            <a:prstDash val="solid"/>
          </a:ln>
          <a:effectLst>
            <a:outerShdw sx="100000" sy="100000" kx="0" ky="0" algn="bl" rotWithShape="0" blurRad="76200" dist="25400" dir="5400000">
              <a:srgbClr val="9AA1A9">
                <a:alpha val="30000"/>
              </a:srgbClr>
            </a:outerShdw>
          </a:effectLst>
        </p:spPr>
      </p:sp>
      <p:sp>
        <p:nvSpPr>
          <p:cNvPr id="5" name="Shape 3"/>
          <p:cNvSpPr/>
          <p:nvPr/>
        </p:nvSpPr>
        <p:spPr>
          <a:xfrm>
            <a:off x="1773936" y="2194560"/>
            <a:ext cx="868680" cy="868680"/>
          </a:xfrm>
          <a:prstGeom prst="ellipse">
            <a:avLst/>
          </a:prstGeom>
          <a:solidFill>
            <a:srgbClr val="D5E9E5"/>
          </a:solidFill>
          <a:ln/>
        </p:spPr>
      </p:sp>
      <p:pic>
        <p:nvPicPr>
          <p:cNvPr id="6" name="Image 0" descr="preencoded.png">    </p:cNvPr>
          <p:cNvPicPr>
            <a:picLocks noChangeAspect="1"/>
          </p:cNvPicPr>
          <p:nvPr/>
        </p:nvPicPr>
        <p:blipFill>
          <a:blip r:embed="rId1"/>
          <a:stretch>
            <a:fillRect/>
          </a:stretch>
        </p:blipFill>
        <p:spPr>
          <a:xfrm>
            <a:off x="1970532" y="2391156"/>
            <a:ext cx="475488" cy="475488"/>
          </a:xfrm>
          <a:prstGeom prst="rect">
            <a:avLst/>
          </a:prstGeom>
        </p:spPr>
      </p:pic>
      <p:sp>
        <p:nvSpPr>
          <p:cNvPr id="7" name="Text 4"/>
          <p:cNvSpPr/>
          <p:nvPr/>
        </p:nvSpPr>
        <p:spPr>
          <a:xfrm>
            <a:off x="745236" y="3154680"/>
            <a:ext cx="2926080" cy="457200"/>
          </a:xfrm>
          <a:prstGeom prst="rect">
            <a:avLst/>
          </a:prstGeom>
          <a:noFill/>
          <a:ln/>
        </p:spPr>
        <p:txBody>
          <a:bodyPr wrap="square" lIns="0" tIns="0" rIns="0" bIns="0" rtlCol="0" anchor="ctr"/>
          <a:lstStyle/>
          <a:p>
            <a:pPr algn="ctr" indent="0" marL="0">
              <a:buNone/>
            </a:pPr>
            <a:r>
              <a:rPr lang="en-US" sz="2000" b="1" dirty="0">
                <a:solidFill>
                  <a:srgbClr val="23272E"/>
                </a:solidFill>
                <a:latin typeface="Cambria" pitchFamily="34" charset="0"/>
                <a:ea typeface="Cambria" pitchFamily="34" charset="-122"/>
                <a:cs typeface="Cambria" pitchFamily="34" charset="-120"/>
              </a:rPr>
              <a:t>Eval Set</a:t>
            </a:r>
            <a:endParaRPr lang="en-US" sz="2000" dirty="0"/>
          </a:p>
        </p:txBody>
      </p:sp>
      <p:sp>
        <p:nvSpPr>
          <p:cNvPr id="8" name="Text 5"/>
          <p:cNvSpPr/>
          <p:nvPr/>
        </p:nvSpPr>
        <p:spPr>
          <a:xfrm>
            <a:off x="790956" y="3639312"/>
            <a:ext cx="2834640" cy="1051560"/>
          </a:xfrm>
          <a:prstGeom prst="rect">
            <a:avLst/>
          </a:prstGeom>
          <a:noFill/>
          <a:ln/>
        </p:spPr>
        <p:txBody>
          <a:bodyPr wrap="square" lIns="0" tIns="0" rIns="0" bIns="0" rtlCol="0" anchor="t"/>
          <a:lstStyle/>
          <a:p>
            <a:pPr indent="0" marL="0">
              <a:lnSpc>
                <a:spcPct val="112000"/>
              </a:lnSpc>
              <a:buNone/>
            </a:pPr>
            <a:r>
              <a:rPr lang="en-US" sz="1300" dirty="0">
                <a:solidFill>
                  <a:srgbClr val="3A3F47"/>
                </a:solidFill>
                <a:latin typeface="Calibri" pitchFamily="34" charset="0"/>
                <a:ea typeface="Calibri" pitchFamily="34" charset="-122"/>
                <a:cs typeface="Calibri" pitchFamily="34" charset="-120"/>
              </a:rPr>
              <a:t>The data: prompts, context, questions, tasks. A given variable meant to cover your target eval space — representative users today, or aspirational use cases for the future.</a:t>
            </a:r>
            <a:endParaRPr lang="en-US" sz="1300" dirty="0"/>
          </a:p>
        </p:txBody>
      </p:sp>
      <p:sp>
        <p:nvSpPr>
          <p:cNvPr id="9" name="Shape 6"/>
          <p:cNvSpPr/>
          <p:nvPr/>
        </p:nvSpPr>
        <p:spPr>
          <a:xfrm>
            <a:off x="4402836" y="1828800"/>
            <a:ext cx="3383280" cy="2971800"/>
          </a:xfrm>
          <a:prstGeom prst="roundRect">
            <a:avLst>
              <a:gd name="adj" fmla="val 3077"/>
            </a:avLst>
          </a:prstGeom>
          <a:solidFill>
            <a:srgbClr val="EEF0F3"/>
          </a:solidFill>
          <a:ln w="12700">
            <a:solidFill>
              <a:srgbClr val="D8DCE1"/>
            </a:solidFill>
            <a:prstDash val="solid"/>
          </a:ln>
          <a:effectLst>
            <a:outerShdw sx="100000" sy="100000" kx="0" ky="0" algn="bl" rotWithShape="0" blurRad="76200" dist="25400" dir="5400000">
              <a:srgbClr val="9AA1A9">
                <a:alpha val="30000"/>
              </a:srgbClr>
            </a:outerShdw>
          </a:effectLst>
        </p:spPr>
      </p:sp>
      <p:sp>
        <p:nvSpPr>
          <p:cNvPr id="10" name="Shape 7"/>
          <p:cNvSpPr/>
          <p:nvPr/>
        </p:nvSpPr>
        <p:spPr>
          <a:xfrm>
            <a:off x="5660136" y="2194560"/>
            <a:ext cx="868680" cy="868680"/>
          </a:xfrm>
          <a:prstGeom prst="ellipse">
            <a:avLst/>
          </a:prstGeom>
          <a:solidFill>
            <a:srgbClr val="D5E9E5"/>
          </a:solidFill>
          <a:ln/>
        </p:spPr>
      </p:sp>
      <p:pic>
        <p:nvPicPr>
          <p:cNvPr id="11" name="Image 1" descr="preencoded.png">    </p:cNvPr>
          <p:cNvPicPr>
            <a:picLocks noChangeAspect="1"/>
          </p:cNvPicPr>
          <p:nvPr/>
        </p:nvPicPr>
        <p:blipFill>
          <a:blip r:embed="rId2"/>
          <a:stretch>
            <a:fillRect/>
          </a:stretch>
        </p:blipFill>
        <p:spPr>
          <a:xfrm>
            <a:off x="5856732" y="2391156"/>
            <a:ext cx="475488" cy="475488"/>
          </a:xfrm>
          <a:prstGeom prst="rect">
            <a:avLst/>
          </a:prstGeom>
        </p:spPr>
      </p:pic>
      <p:sp>
        <p:nvSpPr>
          <p:cNvPr id="12" name="Text 8"/>
          <p:cNvSpPr/>
          <p:nvPr/>
        </p:nvSpPr>
        <p:spPr>
          <a:xfrm>
            <a:off x="4631436" y="3154680"/>
            <a:ext cx="2926080" cy="457200"/>
          </a:xfrm>
          <a:prstGeom prst="rect">
            <a:avLst/>
          </a:prstGeom>
          <a:noFill/>
          <a:ln/>
        </p:spPr>
        <p:txBody>
          <a:bodyPr wrap="square" lIns="0" tIns="0" rIns="0" bIns="0" rtlCol="0" anchor="ctr"/>
          <a:lstStyle/>
          <a:p>
            <a:pPr algn="ctr" indent="0" marL="0">
              <a:buNone/>
            </a:pPr>
            <a:r>
              <a:rPr lang="en-US" sz="2000" b="1" dirty="0">
                <a:solidFill>
                  <a:srgbClr val="23272E"/>
                </a:solidFill>
                <a:latin typeface="Cambria" pitchFamily="34" charset="0"/>
                <a:ea typeface="Cambria" pitchFamily="34" charset="-122"/>
                <a:cs typeface="Cambria" pitchFamily="34" charset="-120"/>
              </a:rPr>
              <a:t>Task + Rubrics</a:t>
            </a:r>
            <a:endParaRPr lang="en-US" sz="2000" dirty="0"/>
          </a:p>
        </p:txBody>
      </p:sp>
      <p:sp>
        <p:nvSpPr>
          <p:cNvPr id="13" name="Text 9"/>
          <p:cNvSpPr/>
          <p:nvPr/>
        </p:nvSpPr>
        <p:spPr>
          <a:xfrm>
            <a:off x="4677156" y="3639312"/>
            <a:ext cx="2834640" cy="1051560"/>
          </a:xfrm>
          <a:prstGeom prst="rect">
            <a:avLst/>
          </a:prstGeom>
          <a:noFill/>
          <a:ln/>
        </p:spPr>
        <p:txBody>
          <a:bodyPr wrap="square" lIns="0" tIns="0" rIns="0" bIns="0" rtlCol="0" anchor="t"/>
          <a:lstStyle/>
          <a:p>
            <a:pPr indent="0" marL="0">
              <a:lnSpc>
                <a:spcPct val="112000"/>
              </a:lnSpc>
              <a:buNone/>
            </a:pPr>
            <a:r>
              <a:rPr lang="en-US" sz="1300" dirty="0">
                <a:solidFill>
                  <a:srgbClr val="3A3F47"/>
                </a:solidFill>
                <a:latin typeface="Calibri" pitchFamily="34" charset="0"/>
                <a:ea typeface="Calibri" pitchFamily="34" charset="-122"/>
                <a:cs typeface="Calibri" pitchFamily="34" charset="-120"/>
              </a:rPr>
              <a:t>The things you want to measure, made operational — task definitions and rubric criteria that annotators (human or LLM) score against.</a:t>
            </a:r>
            <a:endParaRPr lang="en-US" sz="1300" dirty="0"/>
          </a:p>
        </p:txBody>
      </p:sp>
      <p:sp>
        <p:nvSpPr>
          <p:cNvPr id="14" name="Shape 10"/>
          <p:cNvSpPr/>
          <p:nvPr/>
        </p:nvSpPr>
        <p:spPr>
          <a:xfrm>
            <a:off x="8289036" y="1828800"/>
            <a:ext cx="3383280" cy="2971800"/>
          </a:xfrm>
          <a:prstGeom prst="roundRect">
            <a:avLst>
              <a:gd name="adj" fmla="val 3077"/>
            </a:avLst>
          </a:prstGeom>
          <a:solidFill>
            <a:srgbClr val="EEF0F3"/>
          </a:solidFill>
          <a:ln w="12700">
            <a:solidFill>
              <a:srgbClr val="D8DCE1"/>
            </a:solidFill>
            <a:prstDash val="solid"/>
          </a:ln>
          <a:effectLst>
            <a:outerShdw sx="100000" sy="100000" kx="0" ky="0" algn="bl" rotWithShape="0" blurRad="76200" dist="25400" dir="5400000">
              <a:srgbClr val="9AA1A9">
                <a:alpha val="30000"/>
              </a:srgbClr>
            </a:outerShdw>
          </a:effectLst>
        </p:spPr>
      </p:sp>
      <p:sp>
        <p:nvSpPr>
          <p:cNvPr id="15" name="Shape 11"/>
          <p:cNvSpPr/>
          <p:nvPr/>
        </p:nvSpPr>
        <p:spPr>
          <a:xfrm>
            <a:off x="9546336" y="2194560"/>
            <a:ext cx="868680" cy="868680"/>
          </a:xfrm>
          <a:prstGeom prst="ellipse">
            <a:avLst/>
          </a:prstGeom>
          <a:solidFill>
            <a:srgbClr val="D5E9E5"/>
          </a:solidFill>
          <a:ln/>
        </p:spPr>
      </p:sp>
      <p:pic>
        <p:nvPicPr>
          <p:cNvPr id="16" name="Image 2" descr="preencoded.png">    </p:cNvPr>
          <p:cNvPicPr>
            <a:picLocks noChangeAspect="1"/>
          </p:cNvPicPr>
          <p:nvPr/>
        </p:nvPicPr>
        <p:blipFill>
          <a:blip r:embed="rId3"/>
          <a:stretch>
            <a:fillRect/>
          </a:stretch>
        </p:blipFill>
        <p:spPr>
          <a:xfrm>
            <a:off x="9742932" y="2391156"/>
            <a:ext cx="475488" cy="475488"/>
          </a:xfrm>
          <a:prstGeom prst="rect">
            <a:avLst/>
          </a:prstGeom>
        </p:spPr>
      </p:pic>
      <p:sp>
        <p:nvSpPr>
          <p:cNvPr id="17" name="Text 12"/>
          <p:cNvSpPr/>
          <p:nvPr/>
        </p:nvSpPr>
        <p:spPr>
          <a:xfrm>
            <a:off x="8517636" y="3154680"/>
            <a:ext cx="2926080" cy="457200"/>
          </a:xfrm>
          <a:prstGeom prst="rect">
            <a:avLst/>
          </a:prstGeom>
          <a:noFill/>
          <a:ln/>
        </p:spPr>
        <p:txBody>
          <a:bodyPr wrap="square" lIns="0" tIns="0" rIns="0" bIns="0" rtlCol="0" anchor="ctr"/>
          <a:lstStyle/>
          <a:p>
            <a:pPr algn="ctr" indent="0" marL="0">
              <a:buNone/>
            </a:pPr>
            <a:r>
              <a:rPr lang="en-US" sz="2000" b="1" dirty="0">
                <a:solidFill>
                  <a:srgbClr val="23272E"/>
                </a:solidFill>
                <a:latin typeface="Cambria" pitchFamily="34" charset="0"/>
                <a:ea typeface="Cambria" pitchFamily="34" charset="-122"/>
                <a:cs typeface="Cambria" pitchFamily="34" charset="-120"/>
              </a:rPr>
              <a:t>Metrics &amp; Analysis</a:t>
            </a:r>
            <a:endParaRPr lang="en-US" sz="2000" dirty="0"/>
          </a:p>
        </p:txBody>
      </p:sp>
      <p:sp>
        <p:nvSpPr>
          <p:cNvPr id="18" name="Text 13"/>
          <p:cNvSpPr/>
          <p:nvPr/>
        </p:nvSpPr>
        <p:spPr>
          <a:xfrm>
            <a:off x="8563356" y="3639312"/>
            <a:ext cx="2834640" cy="1051560"/>
          </a:xfrm>
          <a:prstGeom prst="rect">
            <a:avLst/>
          </a:prstGeom>
          <a:noFill/>
          <a:ln/>
        </p:spPr>
        <p:txBody>
          <a:bodyPr wrap="square" lIns="0" tIns="0" rIns="0" bIns="0" rtlCol="0" anchor="t"/>
          <a:lstStyle/>
          <a:p>
            <a:pPr indent="0" marL="0">
              <a:lnSpc>
                <a:spcPct val="112000"/>
              </a:lnSpc>
              <a:buNone/>
            </a:pPr>
            <a:r>
              <a:rPr lang="en-US" sz="1300" dirty="0">
                <a:solidFill>
                  <a:srgbClr val="3A3F47"/>
                </a:solidFill>
                <a:latin typeface="Calibri" pitchFamily="34" charset="0"/>
                <a:ea typeface="Calibri" pitchFamily="34" charset="-122"/>
                <a:cs typeface="Calibri" pitchFamily="34" charset="-120"/>
              </a:rPr>
              <a:t>What you get from all the annotations on the rubrics: aggregate metrics, slices, confidence intervals — and the story they tell.</a:t>
            </a:r>
            <a:endParaRPr lang="en-US" sz="1300" dirty="0"/>
          </a:p>
        </p:txBody>
      </p:sp>
      <p:sp>
        <p:nvSpPr>
          <p:cNvPr id="19" name="Text 14"/>
          <p:cNvSpPr/>
          <p:nvPr/>
        </p:nvSpPr>
        <p:spPr>
          <a:xfrm>
            <a:off x="566928" y="5349240"/>
            <a:ext cx="11064240" cy="411480"/>
          </a:xfrm>
          <a:prstGeom prst="rect">
            <a:avLst/>
          </a:prstGeom>
          <a:noFill/>
          <a:ln/>
        </p:spPr>
        <p:txBody>
          <a:bodyPr wrap="square" lIns="0" tIns="0" rIns="0" bIns="0" rtlCol="0" anchor="ctr"/>
          <a:lstStyle/>
          <a:p>
            <a:pPr algn="ctr" indent="0" marL="0">
              <a:buNone/>
            </a:pPr>
            <a:r>
              <a:rPr lang="en-US" sz="1500" i="1" dirty="0">
                <a:solidFill>
                  <a:srgbClr val="D97706"/>
                </a:solidFill>
                <a:latin typeface="Calibri" pitchFamily="34" charset="0"/>
                <a:ea typeface="Calibri" pitchFamily="34" charset="-122"/>
                <a:cs typeface="Calibri" pitchFamily="34" charset="-120"/>
              </a:rPr>
              <a:t>Humans have a distinct and necessary role in each.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10972800" cy="274320"/>
          </a:xfrm>
          <a:prstGeom prst="rect">
            <a:avLst/>
          </a:prstGeom>
          <a:noFill/>
          <a:ln/>
        </p:spPr>
        <p:txBody>
          <a:bodyPr wrap="square" lIns="0" tIns="0" rIns="0" bIns="0" rtlCol="0" anchor="ctr"/>
          <a:lstStyle/>
          <a:p>
            <a:pPr indent="0" marL="0">
              <a:buNone/>
            </a:pPr>
            <a:r>
              <a:rPr lang="en-US" sz="1100" b="1" spc="300" kern="0" dirty="0">
                <a:solidFill>
                  <a:srgbClr val="D97706"/>
                </a:solidFill>
                <a:latin typeface="Calibri" pitchFamily="34" charset="0"/>
                <a:ea typeface="Calibri" pitchFamily="34" charset="-122"/>
                <a:cs typeface="Calibri" pitchFamily="34" charset="-120"/>
              </a:rPr>
              <a:t>COMPONENT 1 · EVAL SET</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23272E"/>
                </a:solidFill>
                <a:latin typeface="Cambria" pitchFamily="34" charset="0"/>
                <a:ea typeface="Cambria" pitchFamily="34" charset="-122"/>
                <a:cs typeface="Cambria" pitchFamily="34" charset="-120"/>
              </a:rPr>
              <a:t>Eval Set: An LLM Might Create It — Humans Steer It</a:t>
            </a:r>
            <a:endParaRPr lang="en-US" sz="3000" dirty="0"/>
          </a:p>
        </p:txBody>
      </p:sp>
      <p:sp>
        <p:nvSpPr>
          <p:cNvPr id="4" name="Shape 2"/>
          <p:cNvSpPr/>
          <p:nvPr/>
        </p:nvSpPr>
        <p:spPr>
          <a:xfrm>
            <a:off x="658368" y="1527048"/>
            <a:ext cx="713232" cy="713232"/>
          </a:xfrm>
          <a:prstGeom prst="ellipse">
            <a:avLst/>
          </a:prstGeom>
          <a:solidFill>
            <a:srgbClr val="F6E2C0"/>
          </a:solidFill>
          <a:ln/>
        </p:spPr>
      </p:sp>
      <p:pic>
        <p:nvPicPr>
          <p:cNvPr id="5" name="Image 0" descr="preencoded.png">    </p:cNvPr>
          <p:cNvPicPr>
            <a:picLocks noChangeAspect="1"/>
          </p:cNvPicPr>
          <p:nvPr/>
        </p:nvPicPr>
        <p:blipFill>
          <a:blip r:embed="rId1"/>
          <a:stretch>
            <a:fillRect/>
          </a:stretch>
        </p:blipFill>
        <p:spPr>
          <a:xfrm>
            <a:off x="827532" y="1687068"/>
            <a:ext cx="374904" cy="374904"/>
          </a:xfrm>
          <a:prstGeom prst="rect">
            <a:avLst/>
          </a:prstGeom>
        </p:spPr>
      </p:pic>
      <p:sp>
        <p:nvSpPr>
          <p:cNvPr id="6" name="Text 3"/>
          <p:cNvSpPr/>
          <p:nvPr/>
        </p:nvSpPr>
        <p:spPr>
          <a:xfrm>
            <a:off x="1600200" y="1417320"/>
            <a:ext cx="9966960" cy="365760"/>
          </a:xfrm>
          <a:prstGeom prst="rect">
            <a:avLst/>
          </a:prstGeom>
          <a:noFill/>
          <a:ln/>
        </p:spPr>
        <p:txBody>
          <a:bodyPr wrap="square" lIns="0" tIns="0" rIns="0" bIns="0" rtlCol="0" anchor="ctr"/>
          <a:lstStyle/>
          <a:p>
            <a:pPr indent="0" marL="0">
              <a:buNone/>
            </a:pPr>
            <a:r>
              <a:rPr lang="en-US" sz="1600" b="1" dirty="0">
                <a:solidFill>
                  <a:srgbClr val="23272E"/>
                </a:solidFill>
                <a:latin typeface="Calibri" pitchFamily="34" charset="0"/>
                <a:ea typeface="Calibri" pitchFamily="34" charset="-122"/>
                <a:cs typeface="Calibri" pitchFamily="34" charset="-120"/>
              </a:rPr>
              <a:t>Sampling criteria &amp; use-case definition</a:t>
            </a:r>
            <a:endParaRPr lang="en-US" sz="1600" dirty="0"/>
          </a:p>
        </p:txBody>
      </p:sp>
      <p:sp>
        <p:nvSpPr>
          <p:cNvPr id="7" name="Text 4"/>
          <p:cNvSpPr/>
          <p:nvPr/>
        </p:nvSpPr>
        <p:spPr>
          <a:xfrm>
            <a:off x="1600200" y="1783080"/>
            <a:ext cx="9966960" cy="731520"/>
          </a:xfrm>
          <a:prstGeom prst="rect">
            <a:avLst/>
          </a:prstGeom>
          <a:noFill/>
          <a:ln/>
        </p:spPr>
        <p:txBody>
          <a:bodyPr wrap="square" lIns="0" tIns="0" rIns="0" bIns="0" rtlCol="0" anchor="t"/>
          <a:lstStyle/>
          <a:p>
            <a:pPr indent="0" marL="0">
              <a:lnSpc>
                <a:spcPct val="108000"/>
              </a:lnSpc>
              <a:buNone/>
            </a:pPr>
            <a:r>
              <a:rPr lang="en-US" sz="1300" dirty="0">
                <a:solidFill>
                  <a:srgbClr val="3A3F47"/>
                </a:solidFill>
                <a:latin typeface="Calibri" pitchFamily="34" charset="0"/>
                <a:ea typeface="Calibri" pitchFamily="34" charset="-122"/>
                <a:cs typeface="Calibri" pitchFamily="34" charset="-120"/>
              </a:rPr>
              <a:t>Stratification and intent live with humans: “we sampled this question, and I read the user as wanting X.” The model can generate; only a human can decide what should be represented.</a:t>
            </a:r>
            <a:endParaRPr lang="en-US" sz="1300" dirty="0"/>
          </a:p>
        </p:txBody>
      </p:sp>
      <p:sp>
        <p:nvSpPr>
          <p:cNvPr id="8" name="Shape 5"/>
          <p:cNvSpPr/>
          <p:nvPr/>
        </p:nvSpPr>
        <p:spPr>
          <a:xfrm>
            <a:off x="658368" y="2642616"/>
            <a:ext cx="713232" cy="713232"/>
          </a:xfrm>
          <a:prstGeom prst="ellipse">
            <a:avLst/>
          </a:prstGeom>
          <a:solidFill>
            <a:srgbClr val="F6E2C0"/>
          </a:solidFill>
          <a:ln/>
        </p:spPr>
      </p:sp>
      <p:pic>
        <p:nvPicPr>
          <p:cNvPr id="9" name="Image 1" descr="preencoded.png">    </p:cNvPr>
          <p:cNvPicPr>
            <a:picLocks noChangeAspect="1"/>
          </p:cNvPicPr>
          <p:nvPr/>
        </p:nvPicPr>
        <p:blipFill>
          <a:blip r:embed="rId2"/>
          <a:stretch>
            <a:fillRect/>
          </a:stretch>
        </p:blipFill>
        <p:spPr>
          <a:xfrm>
            <a:off x="827532" y="2802636"/>
            <a:ext cx="374904" cy="374904"/>
          </a:xfrm>
          <a:prstGeom prst="rect">
            <a:avLst/>
          </a:prstGeom>
        </p:spPr>
      </p:pic>
      <p:sp>
        <p:nvSpPr>
          <p:cNvPr id="10" name="Text 6"/>
          <p:cNvSpPr/>
          <p:nvPr/>
        </p:nvSpPr>
        <p:spPr>
          <a:xfrm>
            <a:off x="1600200" y="2532888"/>
            <a:ext cx="9966960" cy="365760"/>
          </a:xfrm>
          <a:prstGeom prst="rect">
            <a:avLst/>
          </a:prstGeom>
          <a:noFill/>
          <a:ln/>
        </p:spPr>
        <p:txBody>
          <a:bodyPr wrap="square" lIns="0" tIns="0" rIns="0" bIns="0" rtlCol="0" anchor="ctr"/>
          <a:lstStyle/>
          <a:p>
            <a:pPr indent="0" marL="0">
              <a:buNone/>
            </a:pPr>
            <a:r>
              <a:rPr lang="en-US" sz="1600" b="1" dirty="0">
                <a:solidFill>
                  <a:srgbClr val="23272E"/>
                </a:solidFill>
                <a:latin typeface="Calibri" pitchFamily="34" charset="0"/>
                <a:ea typeface="Calibri" pitchFamily="34" charset="-122"/>
                <a:cs typeface="Calibri" pitchFamily="34" charset="-120"/>
              </a:rPr>
              <a:t>Aspirational use cases</a:t>
            </a:r>
            <a:endParaRPr lang="en-US" sz="1600" dirty="0"/>
          </a:p>
        </p:txBody>
      </p:sp>
      <p:sp>
        <p:nvSpPr>
          <p:cNvPr id="11" name="Text 7"/>
          <p:cNvSpPr/>
          <p:nvPr/>
        </p:nvSpPr>
        <p:spPr>
          <a:xfrm>
            <a:off x="1600200" y="2898648"/>
            <a:ext cx="9966960" cy="731520"/>
          </a:xfrm>
          <a:prstGeom prst="rect">
            <a:avLst/>
          </a:prstGeom>
          <a:noFill/>
          <a:ln/>
        </p:spPr>
        <p:txBody>
          <a:bodyPr wrap="square" lIns="0" tIns="0" rIns="0" bIns="0" rtlCol="0" anchor="t"/>
          <a:lstStyle/>
          <a:p>
            <a:pPr indent="0" marL="0">
              <a:lnSpc>
                <a:spcPct val="108000"/>
              </a:lnSpc>
              <a:buNone/>
            </a:pPr>
            <a:r>
              <a:rPr lang="en-US" sz="1300" dirty="0">
                <a:solidFill>
                  <a:srgbClr val="3A3F47"/>
                </a:solidFill>
                <a:latin typeface="Calibri" pitchFamily="34" charset="0"/>
                <a:ea typeface="Calibri" pitchFamily="34" charset="-122"/>
                <a:cs typeface="Calibri" pitchFamily="34" charset="-120"/>
              </a:rPr>
              <a:t>Future-facing targets come from UX research with real users — “our aspirational use case is Y” — not from what the model already knows how to produce.</a:t>
            </a:r>
            <a:endParaRPr lang="en-US" sz="1300" dirty="0"/>
          </a:p>
        </p:txBody>
      </p:sp>
      <p:sp>
        <p:nvSpPr>
          <p:cNvPr id="12" name="Shape 8"/>
          <p:cNvSpPr/>
          <p:nvPr/>
        </p:nvSpPr>
        <p:spPr>
          <a:xfrm>
            <a:off x="658368" y="3758184"/>
            <a:ext cx="713232" cy="713232"/>
          </a:xfrm>
          <a:prstGeom prst="ellipse">
            <a:avLst/>
          </a:prstGeom>
          <a:solidFill>
            <a:srgbClr val="F6E2C0"/>
          </a:solidFill>
          <a:ln/>
        </p:spPr>
      </p:sp>
      <p:pic>
        <p:nvPicPr>
          <p:cNvPr id="13" name="Image 2" descr="preencoded.png">    </p:cNvPr>
          <p:cNvPicPr>
            <a:picLocks noChangeAspect="1"/>
          </p:cNvPicPr>
          <p:nvPr/>
        </p:nvPicPr>
        <p:blipFill>
          <a:blip r:embed="rId3"/>
          <a:stretch>
            <a:fillRect/>
          </a:stretch>
        </p:blipFill>
        <p:spPr>
          <a:xfrm>
            <a:off x="827532" y="3918204"/>
            <a:ext cx="374904" cy="374904"/>
          </a:xfrm>
          <a:prstGeom prst="rect">
            <a:avLst/>
          </a:prstGeom>
        </p:spPr>
      </p:pic>
      <p:sp>
        <p:nvSpPr>
          <p:cNvPr id="14" name="Text 9"/>
          <p:cNvSpPr/>
          <p:nvPr/>
        </p:nvSpPr>
        <p:spPr>
          <a:xfrm>
            <a:off x="1600200" y="3648456"/>
            <a:ext cx="9966960" cy="365760"/>
          </a:xfrm>
          <a:prstGeom prst="rect">
            <a:avLst/>
          </a:prstGeom>
          <a:noFill/>
          <a:ln/>
        </p:spPr>
        <p:txBody>
          <a:bodyPr wrap="square" lIns="0" tIns="0" rIns="0" bIns="0" rtlCol="0" anchor="ctr"/>
          <a:lstStyle/>
          <a:p>
            <a:pPr indent="0" marL="0">
              <a:buNone/>
            </a:pPr>
            <a:r>
              <a:rPr lang="en-US" sz="1600" b="1" dirty="0">
                <a:solidFill>
                  <a:srgbClr val="23272E"/>
                </a:solidFill>
                <a:latin typeface="Calibri" pitchFamily="34" charset="0"/>
                <a:ea typeface="Calibri" pitchFamily="34" charset="-122"/>
                <a:cs typeface="Calibri" pitchFamily="34" charset="-120"/>
              </a:rPr>
              <a:t>Real customer patterns</a:t>
            </a:r>
            <a:endParaRPr lang="en-US" sz="1600" dirty="0"/>
          </a:p>
        </p:txBody>
      </p:sp>
      <p:sp>
        <p:nvSpPr>
          <p:cNvPr id="15" name="Text 10"/>
          <p:cNvSpPr/>
          <p:nvPr/>
        </p:nvSpPr>
        <p:spPr>
          <a:xfrm>
            <a:off x="1600200" y="4014216"/>
            <a:ext cx="9966960" cy="731520"/>
          </a:xfrm>
          <a:prstGeom prst="rect">
            <a:avLst/>
          </a:prstGeom>
          <a:noFill/>
          <a:ln/>
        </p:spPr>
        <p:txBody>
          <a:bodyPr wrap="square" lIns="0" tIns="0" rIns="0" bIns="0" rtlCol="0" anchor="t"/>
          <a:lstStyle/>
          <a:p>
            <a:pPr indent="0" marL="0">
              <a:lnSpc>
                <a:spcPct val="108000"/>
              </a:lnSpc>
              <a:buNone/>
            </a:pPr>
            <a:r>
              <a:rPr lang="en-US" sz="1300" dirty="0">
                <a:solidFill>
                  <a:srgbClr val="3A3F47"/>
                </a:solidFill>
                <a:latin typeface="Calibri" pitchFamily="34" charset="0"/>
                <a:ea typeface="Calibri" pitchFamily="34" charset="-122"/>
                <a:cs typeface="Calibri" pitchFamily="34" charset="-120"/>
              </a:rPr>
              <a:t>Actual human traffic always earns a place in the set — at minimum as a regression set, so quality never silently slips on what users truly do.</a:t>
            </a:r>
            <a:endParaRPr lang="en-US" sz="1300" dirty="0"/>
          </a:p>
        </p:txBody>
      </p:sp>
      <p:sp>
        <p:nvSpPr>
          <p:cNvPr id="16" name="Shape 11"/>
          <p:cNvSpPr/>
          <p:nvPr/>
        </p:nvSpPr>
        <p:spPr>
          <a:xfrm>
            <a:off x="658368" y="4873752"/>
            <a:ext cx="713232" cy="713232"/>
          </a:xfrm>
          <a:prstGeom prst="ellipse">
            <a:avLst/>
          </a:prstGeom>
          <a:solidFill>
            <a:srgbClr val="F6E2C0"/>
          </a:solidFill>
          <a:ln/>
        </p:spPr>
      </p:sp>
      <p:pic>
        <p:nvPicPr>
          <p:cNvPr id="17" name="Image 3" descr="preencoded.png">    </p:cNvPr>
          <p:cNvPicPr>
            <a:picLocks noChangeAspect="1"/>
          </p:cNvPicPr>
          <p:nvPr/>
        </p:nvPicPr>
        <p:blipFill>
          <a:blip r:embed="rId4"/>
          <a:stretch>
            <a:fillRect/>
          </a:stretch>
        </p:blipFill>
        <p:spPr>
          <a:xfrm>
            <a:off x="827532" y="5033772"/>
            <a:ext cx="374904" cy="374904"/>
          </a:xfrm>
          <a:prstGeom prst="rect">
            <a:avLst/>
          </a:prstGeom>
        </p:spPr>
      </p:pic>
      <p:sp>
        <p:nvSpPr>
          <p:cNvPr id="18" name="Text 12"/>
          <p:cNvSpPr/>
          <p:nvPr/>
        </p:nvSpPr>
        <p:spPr>
          <a:xfrm>
            <a:off x="1600200" y="4764024"/>
            <a:ext cx="9966960" cy="365760"/>
          </a:xfrm>
          <a:prstGeom prst="rect">
            <a:avLst/>
          </a:prstGeom>
          <a:noFill/>
          <a:ln/>
        </p:spPr>
        <p:txBody>
          <a:bodyPr wrap="square" lIns="0" tIns="0" rIns="0" bIns="0" rtlCol="0" anchor="ctr"/>
          <a:lstStyle/>
          <a:p>
            <a:pPr indent="0" marL="0">
              <a:buNone/>
            </a:pPr>
            <a:r>
              <a:rPr lang="en-US" sz="1600" b="1" dirty="0">
                <a:solidFill>
                  <a:srgbClr val="23272E"/>
                </a:solidFill>
                <a:latin typeface="Calibri" pitchFamily="34" charset="0"/>
                <a:ea typeface="Calibri" pitchFamily="34" charset="-122"/>
                <a:cs typeface="Calibri" pitchFamily="34" charset="-120"/>
              </a:rPr>
              <a:t>Manual review of the eval set</a:t>
            </a:r>
            <a:endParaRPr lang="en-US" sz="1600" dirty="0"/>
          </a:p>
        </p:txBody>
      </p:sp>
      <p:sp>
        <p:nvSpPr>
          <p:cNvPr id="19" name="Text 13"/>
          <p:cNvSpPr/>
          <p:nvPr/>
        </p:nvSpPr>
        <p:spPr>
          <a:xfrm>
            <a:off x="1600200" y="5129784"/>
            <a:ext cx="9966960" cy="731520"/>
          </a:xfrm>
          <a:prstGeom prst="rect">
            <a:avLst/>
          </a:prstGeom>
          <a:noFill/>
          <a:ln/>
        </p:spPr>
        <p:txBody>
          <a:bodyPr wrap="square" lIns="0" tIns="0" rIns="0" bIns="0" rtlCol="0" anchor="t"/>
          <a:lstStyle/>
          <a:p>
            <a:pPr indent="0" marL="0">
              <a:lnSpc>
                <a:spcPct val="108000"/>
              </a:lnSpc>
              <a:buNone/>
            </a:pPr>
            <a:r>
              <a:rPr lang="en-US" sz="1300" dirty="0">
                <a:solidFill>
                  <a:srgbClr val="3A3F47"/>
                </a:solidFill>
                <a:latin typeface="Calibri" pitchFamily="34" charset="0"/>
                <a:ea typeface="Calibri" pitchFamily="34" charset="-122"/>
                <a:cs typeface="Calibri" pitchFamily="34" charset="-120"/>
              </a:rPr>
              <a:t>A human pass over the set catches skew, duplicates, and unrealistic prompts before they poison every metric downstream.</a:t>
            </a:r>
            <a:endParaRPr lang="en-US" sz="1300" dirty="0"/>
          </a:p>
        </p:txBody>
      </p:sp>
      <p:sp>
        <p:nvSpPr>
          <p:cNvPr id="20" name="Shape 14"/>
          <p:cNvSpPr/>
          <p:nvPr/>
        </p:nvSpPr>
        <p:spPr>
          <a:xfrm>
            <a:off x="566928" y="6172200"/>
            <a:ext cx="11064240" cy="457200"/>
          </a:xfrm>
          <a:prstGeom prst="roundRect">
            <a:avLst>
              <a:gd name="adj" fmla="val 16000"/>
            </a:avLst>
          </a:prstGeom>
          <a:solidFill>
            <a:srgbClr val="D5E9E5"/>
          </a:solidFill>
          <a:ln w="12700">
            <a:solidFill>
              <a:srgbClr val="AFD2CB"/>
            </a:solidFill>
            <a:prstDash val="solid"/>
          </a:ln>
        </p:spPr>
      </p:sp>
      <p:sp>
        <p:nvSpPr>
          <p:cNvPr id="21" name="Text 15"/>
          <p:cNvSpPr/>
          <p:nvPr/>
        </p:nvSpPr>
        <p:spPr>
          <a:xfrm>
            <a:off x="777240" y="6172200"/>
            <a:ext cx="10698480" cy="457200"/>
          </a:xfrm>
          <a:prstGeom prst="rect">
            <a:avLst/>
          </a:prstGeom>
          <a:noFill/>
          <a:ln/>
        </p:spPr>
        <p:txBody>
          <a:bodyPr wrap="square" lIns="0" tIns="0" rIns="0" bIns="0" rtlCol="0" anchor="ctr"/>
          <a:lstStyle/>
          <a:p>
            <a:pPr indent="0" marL="0">
              <a:buNone/>
            </a:pPr>
            <a:r>
              <a:rPr lang="en-US" sz="1350" b="1" dirty="0">
                <a:solidFill>
                  <a:srgbClr val="0F766E"/>
                </a:solidFill>
                <a:latin typeface="Calibri" pitchFamily="34" charset="0"/>
                <a:ea typeface="Calibri" pitchFamily="34" charset="-122"/>
                <a:cs typeface="Calibri" pitchFamily="34" charset="-120"/>
              </a:rPr>
              <a:t>Division of labor:  </a:t>
            </a:r>
            <a:pPr indent="0" marL="0">
              <a:buNone/>
            </a:pPr>
            <a:r>
              <a:rPr lang="en-US" sz="1350" dirty="0">
                <a:solidFill>
                  <a:srgbClr val="3A3F47"/>
                </a:solidFill>
                <a:latin typeface="Calibri" pitchFamily="34" charset="0"/>
                <a:ea typeface="Calibri" pitchFamily="34" charset="-122"/>
                <a:cs typeface="Calibri" pitchFamily="34" charset="-120"/>
              </a:rPr>
              <a:t>the LLM drafts at scale — the human defines the target and reviews the draft.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10972800" cy="274320"/>
          </a:xfrm>
          <a:prstGeom prst="rect">
            <a:avLst/>
          </a:prstGeom>
          <a:noFill/>
          <a:ln/>
        </p:spPr>
        <p:txBody>
          <a:bodyPr wrap="square" lIns="0" tIns="0" rIns="0" bIns="0" rtlCol="0" anchor="ctr"/>
          <a:lstStyle/>
          <a:p>
            <a:pPr indent="0" marL="0">
              <a:buNone/>
            </a:pPr>
            <a:r>
              <a:rPr lang="en-US" sz="1100" b="1" spc="300" kern="0" dirty="0">
                <a:solidFill>
                  <a:srgbClr val="D97706"/>
                </a:solidFill>
                <a:latin typeface="Calibri" pitchFamily="34" charset="0"/>
                <a:ea typeface="Calibri" pitchFamily="34" charset="-122"/>
                <a:cs typeface="Calibri" pitchFamily="34" charset="-120"/>
              </a:rPr>
              <a:t>WHY THE MIX MATTERS</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23272E"/>
                </a:solidFill>
                <a:latin typeface="Cambria" pitchFamily="34" charset="0"/>
                <a:ea typeface="Cambria" pitchFamily="34" charset="-122"/>
                <a:cs typeface="Cambria" pitchFamily="34" charset="-120"/>
              </a:rPr>
              <a:t>Use-Case Stratification Buys Accuracy You Cannot Buy With Volume</a:t>
            </a:r>
            <a:endParaRPr lang="en-US" sz="3000" dirty="0"/>
          </a:p>
        </p:txBody>
      </p:sp>
      <p:pic>
        <p:nvPicPr>
          <p:cNvPr id="4" name="Image 0" descr="/home/claude/deck/strat_chart.png">    </p:cNvPr>
          <p:cNvPicPr>
            <a:picLocks noChangeAspect="1"/>
          </p:cNvPicPr>
          <p:nvPr/>
        </p:nvPicPr>
        <p:blipFill>
          <a:blip r:embed="rId1"/>
          <a:stretch>
            <a:fillRect/>
          </a:stretch>
        </p:blipFill>
        <p:spPr>
          <a:xfrm>
            <a:off x="566928" y="1371600"/>
            <a:ext cx="6903720" cy="4663440"/>
          </a:xfrm>
          <a:prstGeom prst="rect">
            <a:avLst/>
          </a:prstGeom>
        </p:spPr>
      </p:pic>
      <p:sp>
        <p:nvSpPr>
          <p:cNvPr id="5" name="Shape 2"/>
          <p:cNvSpPr/>
          <p:nvPr/>
        </p:nvSpPr>
        <p:spPr>
          <a:xfrm>
            <a:off x="7726680" y="1371600"/>
            <a:ext cx="3904488" cy="4663440"/>
          </a:xfrm>
          <a:prstGeom prst="roundRect">
            <a:avLst>
              <a:gd name="adj" fmla="val 2342"/>
            </a:avLst>
          </a:prstGeom>
          <a:solidFill>
            <a:srgbClr val="EEF0F3"/>
          </a:solidFill>
          <a:ln w="12700">
            <a:solidFill>
              <a:srgbClr val="D8DCE1"/>
            </a:solidFill>
            <a:prstDash val="solid"/>
          </a:ln>
        </p:spPr>
      </p:sp>
      <p:sp>
        <p:nvSpPr>
          <p:cNvPr id="6" name="Text 3"/>
          <p:cNvSpPr/>
          <p:nvPr/>
        </p:nvSpPr>
        <p:spPr>
          <a:xfrm>
            <a:off x="8019288" y="1600200"/>
            <a:ext cx="3319272" cy="3200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The setup</a:t>
            </a:r>
            <a:endParaRPr lang="en-US" sz="1300" dirty="0"/>
          </a:p>
        </p:txBody>
      </p:sp>
      <p:sp>
        <p:nvSpPr>
          <p:cNvPr id="7" name="Text 4"/>
          <p:cNvSpPr/>
          <p:nvPr/>
        </p:nvSpPr>
        <p:spPr>
          <a:xfrm>
            <a:off x="8019288" y="1938528"/>
            <a:ext cx="3319272" cy="914400"/>
          </a:xfrm>
          <a:prstGeom prst="rect">
            <a:avLst/>
          </a:prstGeom>
          <a:noFill/>
          <a:ln/>
        </p:spPr>
        <p:txBody>
          <a:bodyPr wrap="square" lIns="0" tIns="0" rIns="0" bIns="0" rtlCol="0" anchor="t"/>
          <a:lstStyle/>
          <a:p>
            <a:pPr indent="0" marL="0">
              <a:lnSpc>
                <a:spcPct val="110000"/>
              </a:lnSpc>
              <a:buNone/>
            </a:pPr>
            <a:r>
              <a:rPr lang="en-US" sz="1200" dirty="0">
                <a:solidFill>
                  <a:srgbClr val="3A3F47"/>
                </a:solidFill>
                <a:latin typeface="Calibri" pitchFamily="34" charset="0"/>
                <a:ea typeface="Calibri" pitchFamily="34" charset="-122"/>
                <a:cs typeface="Calibri" pitchFamily="34" charset="-120"/>
              </a:rPr>
              <a:t>Four use-case strata with different true pass rates. Humans define the strata and their weights; the eval set is drawn against them.</a:t>
            </a:r>
            <a:endParaRPr lang="en-US" sz="1200" dirty="0"/>
          </a:p>
        </p:txBody>
      </p:sp>
      <p:sp>
        <p:nvSpPr>
          <p:cNvPr id="8" name="Text 5"/>
          <p:cNvSpPr/>
          <p:nvPr/>
        </p:nvSpPr>
        <p:spPr>
          <a:xfrm>
            <a:off x="8019288" y="2926080"/>
            <a:ext cx="3319272" cy="3200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Two separate effects</a:t>
            </a:r>
            <a:endParaRPr lang="en-US" sz="1300" dirty="0"/>
          </a:p>
        </p:txBody>
      </p:sp>
      <p:sp>
        <p:nvSpPr>
          <p:cNvPr id="9" name="Text 6"/>
          <p:cNvSpPr/>
          <p:nvPr/>
        </p:nvSpPr>
        <p:spPr>
          <a:xfrm>
            <a:off x="8019288" y="3264408"/>
            <a:ext cx="3319272" cy="1965960"/>
          </a:xfrm>
          <a:prstGeom prst="rect">
            <a:avLst/>
          </a:prstGeom>
          <a:noFill/>
          <a:ln/>
        </p:spPr>
        <p:txBody>
          <a:bodyPr wrap="square" lIns="0" tIns="0" rIns="0" bIns="0" rtlCol="0" anchor="t"/>
          <a:lstStyle/>
          <a:p>
            <a:pPr marL="139700" indent="-139700">
              <a:lnSpc>
                <a:spcPct val="110000"/>
              </a:lnSpc>
              <a:spcAft>
                <a:spcPts val="700"/>
              </a:spcAft>
              <a:buSzPct val="100000"/>
              <a:buChar char="•"/>
            </a:pPr>
            <a:r>
              <a:rPr lang="en-US" sz="1200" dirty="0">
                <a:solidFill>
                  <a:srgbClr val="3A3F47"/>
                </a:solidFill>
                <a:latin typeface="Calibri" pitchFamily="34" charset="0"/>
                <a:ea typeface="Calibri" pitchFamily="34" charset="-122"/>
                <a:cs typeface="Calibri" pitchFamily="34" charset="-120"/>
              </a:rPr>
              <a:t>Wrong mix → bias. Over-weight easy use cases and the metric is off by ~4 pts no matter how many labels you buy.</a:t>
            </a:r>
            <a:endParaRPr lang="en-US" sz="1200" dirty="0"/>
          </a:p>
          <a:p>
            <a:pPr marL="139700" indent="-139700">
              <a:lnSpc>
                <a:spcPct val="110000"/>
              </a:lnSpc>
              <a:spcAft>
                <a:spcPts val="700"/>
              </a:spcAft>
              <a:buSzPct val="100000"/>
              <a:buChar char="•"/>
            </a:pPr>
            <a:r>
              <a:rPr lang="en-US" sz="1200" dirty="0">
                <a:solidFill>
                  <a:srgbClr val="3A3F47"/>
                </a:solidFill>
                <a:latin typeface="Calibri" pitchFamily="34" charset="0"/>
                <a:ea typeface="Calibri" pitchFamily="34" charset="-122"/>
                <a:cs typeface="Calibri" pitchFamily="34" charset="-120"/>
              </a:rPr>
              <a:t>Right mix → variance. Stratified allocation then trims a further ~4% off the SE.</a:t>
            </a:r>
            <a:endParaRPr lang="en-US" sz="1200" dirty="0"/>
          </a:p>
          <a:p>
            <a:pPr marL="139700" indent="-139700">
              <a:lnSpc>
                <a:spcPct val="110000"/>
              </a:lnSpc>
              <a:buSzPct val="100000"/>
              <a:buChar char="•"/>
            </a:pPr>
            <a:r>
              <a:rPr lang="en-US" sz="1200" dirty="0">
                <a:solidFill>
                  <a:srgbClr val="3A3F47"/>
                </a:solidFill>
                <a:latin typeface="Calibri" pitchFamily="34" charset="0"/>
                <a:ea typeface="Calibri" pitchFamily="34" charset="-122"/>
                <a:cs typeface="Calibri" pitchFamily="34" charset="-120"/>
              </a:rPr>
              <a:t>Past ~115 items the mix error dominates sampling error entirely.</a:t>
            </a:r>
            <a:endParaRPr lang="en-US" sz="1200" dirty="0"/>
          </a:p>
        </p:txBody>
      </p:sp>
      <p:sp>
        <p:nvSpPr>
          <p:cNvPr id="10" name="Text 7"/>
          <p:cNvSpPr/>
          <p:nvPr/>
        </p:nvSpPr>
        <p:spPr>
          <a:xfrm>
            <a:off x="8019288" y="5212080"/>
            <a:ext cx="3319272" cy="365760"/>
          </a:xfrm>
          <a:prstGeom prst="rect">
            <a:avLst/>
          </a:prstGeom>
          <a:noFill/>
          <a:ln/>
        </p:spPr>
        <p:txBody>
          <a:bodyPr wrap="square" lIns="0" tIns="0" rIns="0" bIns="0" rtlCol="0" anchor="ctr"/>
          <a:lstStyle/>
          <a:p>
            <a:pPr indent="0" marL="0">
              <a:buNone/>
            </a:pPr>
            <a:r>
              <a:rPr lang="en-US" sz="1250" b="1" i="1" dirty="0">
                <a:solidFill>
                  <a:srgbClr val="D97706"/>
                </a:solidFill>
                <a:latin typeface="Calibri" pitchFamily="34" charset="0"/>
                <a:ea typeface="Calibri" pitchFamily="34" charset="-122"/>
                <a:cs typeface="Calibri" pitchFamily="34" charset="-120"/>
              </a:rPr>
              <a:t>Defining the strata is the human judgment call.</a:t>
            </a:r>
            <a:endParaRPr lang="en-US" sz="1250" dirty="0"/>
          </a:p>
        </p:txBody>
      </p:sp>
      <p:sp>
        <p:nvSpPr>
          <p:cNvPr id="11" name="Text 8"/>
          <p:cNvSpPr/>
          <p:nvPr/>
        </p:nvSpPr>
        <p:spPr>
          <a:xfrm>
            <a:off x="8019288" y="5541264"/>
            <a:ext cx="3319272" cy="457200"/>
          </a:xfrm>
          <a:prstGeom prst="rect">
            <a:avLst/>
          </a:prstGeom>
          <a:noFill/>
          <a:ln/>
        </p:spPr>
        <p:txBody>
          <a:bodyPr wrap="square" lIns="0" tIns="0" rIns="0" bIns="0" rtlCol="0" anchor="t"/>
          <a:lstStyle/>
          <a:p>
            <a:pPr indent="0" marL="0">
              <a:lnSpc>
                <a:spcPct val="105000"/>
              </a:lnSpc>
              <a:buNone/>
            </a:pPr>
            <a:r>
              <a:rPr lang="en-US" sz="950" dirty="0">
                <a:solidFill>
                  <a:srgbClr val="6B7280"/>
                </a:solidFill>
                <a:latin typeface="Calibri" pitchFamily="34" charset="0"/>
                <a:ea typeface="Calibri" pitchFamily="34" charset="-122"/>
                <a:cs typeface="Calibri" pitchFamily="34" charset="-120"/>
              </a:rPr>
              <a:t>Optimal allocation: Neyman (1934); Cochran, Sampling Techniques (1977). Stratified hybrid estimation: Fisch et al., NeurIPS 2024.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10972800" cy="274320"/>
          </a:xfrm>
          <a:prstGeom prst="rect">
            <a:avLst/>
          </a:prstGeom>
          <a:noFill/>
          <a:ln/>
        </p:spPr>
        <p:txBody>
          <a:bodyPr wrap="square" lIns="0" tIns="0" rIns="0" bIns="0" rtlCol="0" anchor="ctr"/>
          <a:lstStyle/>
          <a:p>
            <a:pPr indent="0" marL="0">
              <a:buNone/>
            </a:pPr>
            <a:r>
              <a:rPr lang="en-US" sz="1100" b="1" spc="300" kern="0" dirty="0">
                <a:solidFill>
                  <a:srgbClr val="D97706"/>
                </a:solidFill>
                <a:latin typeface="Calibri" pitchFamily="34" charset="0"/>
                <a:ea typeface="Calibri" pitchFamily="34" charset="-122"/>
                <a:cs typeface="Calibri" pitchFamily="34" charset="-120"/>
              </a:rPr>
              <a:t>COMPONENT 2 · TASK + RUBRICS</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23272E"/>
                </a:solidFill>
                <a:latin typeface="Cambria" pitchFamily="34" charset="0"/>
                <a:ea typeface="Cambria" pitchFamily="34" charset="-122"/>
                <a:cs typeface="Cambria" pitchFamily="34" charset="-120"/>
              </a:rPr>
              <a:t>LLM Ground Truth, LLM Judge — Where Are the Humans?</a:t>
            </a:r>
            <a:endParaRPr lang="en-US" sz="3000" dirty="0"/>
          </a:p>
        </p:txBody>
      </p:sp>
      <p:sp>
        <p:nvSpPr>
          <p:cNvPr id="4" name="Shape 2"/>
          <p:cNvSpPr/>
          <p:nvPr/>
        </p:nvSpPr>
        <p:spPr>
          <a:xfrm>
            <a:off x="493776" y="1874520"/>
            <a:ext cx="3520440" cy="2286000"/>
          </a:xfrm>
          <a:prstGeom prst="roundRect">
            <a:avLst>
              <a:gd name="adj" fmla="val 4000"/>
            </a:avLst>
          </a:prstGeom>
          <a:solidFill>
            <a:srgbClr val="F6E2C0"/>
          </a:solidFill>
          <a:ln w="12700">
            <a:solidFill>
              <a:srgbClr val="E3C48D"/>
            </a:solidFill>
            <a:prstDash val="solid"/>
          </a:ln>
        </p:spPr>
      </p:sp>
      <p:sp>
        <p:nvSpPr>
          <p:cNvPr id="5" name="Shape 3"/>
          <p:cNvSpPr/>
          <p:nvPr/>
        </p:nvSpPr>
        <p:spPr>
          <a:xfrm>
            <a:off x="768096" y="2148840"/>
            <a:ext cx="713232" cy="713232"/>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32688" y="2313432"/>
            <a:ext cx="384048" cy="384048"/>
          </a:xfrm>
          <a:prstGeom prst="rect">
            <a:avLst/>
          </a:prstGeom>
        </p:spPr>
      </p:pic>
      <p:sp>
        <p:nvSpPr>
          <p:cNvPr id="7" name="Text 4"/>
          <p:cNvSpPr/>
          <p:nvPr/>
        </p:nvSpPr>
        <p:spPr>
          <a:xfrm>
            <a:off x="1591056" y="2148840"/>
            <a:ext cx="2148840" cy="713232"/>
          </a:xfrm>
          <a:prstGeom prst="rect">
            <a:avLst/>
          </a:prstGeom>
          <a:noFill/>
          <a:ln/>
        </p:spPr>
        <p:txBody>
          <a:bodyPr wrap="square" lIns="0" tIns="0" rIns="0" bIns="0" rtlCol="0" anchor="ctr"/>
          <a:lstStyle/>
          <a:p>
            <a:pPr indent="0" marL="0">
              <a:lnSpc>
                <a:spcPct val="100000"/>
              </a:lnSpc>
              <a:buNone/>
            </a:pPr>
            <a:r>
              <a:rPr lang="en-US" sz="1500" b="1" dirty="0">
                <a:solidFill>
                  <a:srgbClr val="23272E"/>
                </a:solidFill>
                <a:latin typeface="Calibri" pitchFamily="34" charset="0"/>
                <a:ea typeface="Calibri" pitchFamily="34" charset="-122"/>
                <a:cs typeface="Calibri" pitchFamily="34" charset="-120"/>
              </a:rPr>
              <a:t>Craft (or review) the rubric</a:t>
            </a:r>
            <a:endParaRPr lang="en-US" sz="1500" dirty="0"/>
          </a:p>
        </p:txBody>
      </p:sp>
      <p:sp>
        <p:nvSpPr>
          <p:cNvPr id="8" name="Text 5"/>
          <p:cNvSpPr/>
          <p:nvPr/>
        </p:nvSpPr>
        <p:spPr>
          <a:xfrm>
            <a:off x="786384" y="3081528"/>
            <a:ext cx="2935224" cy="1188720"/>
          </a:xfrm>
          <a:prstGeom prst="rect">
            <a:avLst/>
          </a:prstGeom>
          <a:noFill/>
          <a:ln/>
        </p:spPr>
        <p:txBody>
          <a:bodyPr wrap="square" lIns="0" tIns="0" rIns="0" bIns="0" rtlCol="0" anchor="t"/>
          <a:lstStyle/>
          <a:p>
            <a:pPr indent="0" marL="0">
              <a:lnSpc>
                <a:spcPct val="108000"/>
              </a:lnSpc>
              <a:buNone/>
            </a:pPr>
            <a:r>
              <a:rPr lang="en-US" sz="1250" dirty="0">
                <a:solidFill>
                  <a:srgbClr val="3A3F47"/>
                </a:solidFill>
                <a:latin typeface="Calibri" pitchFamily="34" charset="0"/>
                <a:ea typeface="Calibri" pitchFamily="34" charset="-122"/>
                <a:cs typeface="Calibri" pitchFamily="34" charset="-120"/>
              </a:rPr>
              <a:t>The rubric is your objective function. Humans define the goals; abdicate that and the eval optimizes for something nobody chose.</a:t>
            </a:r>
            <a:endParaRPr lang="en-US" sz="1250" dirty="0"/>
          </a:p>
        </p:txBody>
      </p:sp>
      <p:sp>
        <p:nvSpPr>
          <p:cNvPr id="9" name="Shape 6"/>
          <p:cNvSpPr/>
          <p:nvPr/>
        </p:nvSpPr>
        <p:spPr>
          <a:xfrm>
            <a:off x="4334256" y="1874520"/>
            <a:ext cx="3520440" cy="2286000"/>
          </a:xfrm>
          <a:prstGeom prst="roundRect">
            <a:avLst>
              <a:gd name="adj" fmla="val 4000"/>
            </a:avLst>
          </a:prstGeom>
          <a:solidFill>
            <a:srgbClr val="F6E2C0"/>
          </a:solidFill>
          <a:ln w="12700">
            <a:solidFill>
              <a:srgbClr val="E3C48D"/>
            </a:solidFill>
            <a:prstDash val="solid"/>
          </a:ln>
        </p:spPr>
      </p:sp>
      <p:sp>
        <p:nvSpPr>
          <p:cNvPr id="10" name="Shape 7"/>
          <p:cNvSpPr/>
          <p:nvPr/>
        </p:nvSpPr>
        <p:spPr>
          <a:xfrm>
            <a:off x="4608576" y="2148840"/>
            <a:ext cx="713232" cy="713232"/>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4773168" y="2313432"/>
            <a:ext cx="384048" cy="384048"/>
          </a:xfrm>
          <a:prstGeom prst="rect">
            <a:avLst/>
          </a:prstGeom>
        </p:spPr>
      </p:pic>
      <p:sp>
        <p:nvSpPr>
          <p:cNvPr id="12" name="Text 8"/>
          <p:cNvSpPr/>
          <p:nvPr/>
        </p:nvSpPr>
        <p:spPr>
          <a:xfrm>
            <a:off x="5431536" y="2148840"/>
            <a:ext cx="2148840" cy="713232"/>
          </a:xfrm>
          <a:prstGeom prst="rect">
            <a:avLst/>
          </a:prstGeom>
          <a:noFill/>
          <a:ln/>
        </p:spPr>
        <p:txBody>
          <a:bodyPr wrap="square" lIns="0" tIns="0" rIns="0" bIns="0" rtlCol="0" anchor="ctr"/>
          <a:lstStyle/>
          <a:p>
            <a:pPr indent="0" marL="0">
              <a:lnSpc>
                <a:spcPct val="100000"/>
              </a:lnSpc>
              <a:buNone/>
            </a:pPr>
            <a:r>
              <a:rPr lang="en-US" sz="1500" b="1" dirty="0">
                <a:solidFill>
                  <a:srgbClr val="23272E"/>
                </a:solidFill>
                <a:latin typeface="Calibri" pitchFamily="34" charset="0"/>
                <a:ea typeface="Calibri" pitchFamily="34" charset="-122"/>
                <a:cs typeface="Calibri" pitchFamily="34" charset="-120"/>
              </a:rPr>
              <a:t>Sanity-check labels &amp; scores</a:t>
            </a:r>
            <a:endParaRPr lang="en-US" sz="1500" dirty="0"/>
          </a:p>
        </p:txBody>
      </p:sp>
      <p:sp>
        <p:nvSpPr>
          <p:cNvPr id="13" name="Text 9"/>
          <p:cNvSpPr/>
          <p:nvPr/>
        </p:nvSpPr>
        <p:spPr>
          <a:xfrm>
            <a:off x="4626864" y="3081528"/>
            <a:ext cx="2935224" cy="1188720"/>
          </a:xfrm>
          <a:prstGeom prst="rect">
            <a:avLst/>
          </a:prstGeom>
          <a:noFill/>
          <a:ln/>
        </p:spPr>
        <p:txBody>
          <a:bodyPr wrap="square" lIns="0" tIns="0" rIns="0" bIns="0" rtlCol="0" anchor="t"/>
          <a:lstStyle/>
          <a:p>
            <a:pPr indent="0" marL="0">
              <a:lnSpc>
                <a:spcPct val="108000"/>
              </a:lnSpc>
              <a:buNone/>
            </a:pPr>
            <a:r>
              <a:rPr lang="en-US" sz="1250" dirty="0">
                <a:solidFill>
                  <a:srgbClr val="3A3F47"/>
                </a:solidFill>
                <a:latin typeface="Calibri" pitchFamily="34" charset="0"/>
                <a:ea typeface="Calibri" pitchFamily="34" charset="-122"/>
                <a:cs typeface="Calibri" pitchFamily="34" charset="-120"/>
              </a:rPr>
              <a:t>Ground truth without a human is just self-consistency. And rubrics are never perfect — latent patterns get missed and need human-driven tweaking.</a:t>
            </a:r>
            <a:endParaRPr lang="en-US" sz="1250" dirty="0"/>
          </a:p>
        </p:txBody>
      </p:sp>
      <p:sp>
        <p:nvSpPr>
          <p:cNvPr id="14" name="Shape 10"/>
          <p:cNvSpPr/>
          <p:nvPr/>
        </p:nvSpPr>
        <p:spPr>
          <a:xfrm>
            <a:off x="8174736" y="1874520"/>
            <a:ext cx="3520440" cy="2286000"/>
          </a:xfrm>
          <a:prstGeom prst="roundRect">
            <a:avLst>
              <a:gd name="adj" fmla="val 4000"/>
            </a:avLst>
          </a:prstGeom>
          <a:solidFill>
            <a:srgbClr val="F6E2C0"/>
          </a:solidFill>
          <a:ln w="12700">
            <a:solidFill>
              <a:srgbClr val="E3C48D"/>
            </a:solidFill>
            <a:prstDash val="solid"/>
          </a:ln>
        </p:spPr>
      </p:sp>
      <p:sp>
        <p:nvSpPr>
          <p:cNvPr id="15" name="Shape 11"/>
          <p:cNvSpPr/>
          <p:nvPr/>
        </p:nvSpPr>
        <p:spPr>
          <a:xfrm>
            <a:off x="8449056" y="2148840"/>
            <a:ext cx="713232" cy="713232"/>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8613648" y="2313432"/>
            <a:ext cx="384048" cy="384048"/>
          </a:xfrm>
          <a:prstGeom prst="rect">
            <a:avLst/>
          </a:prstGeom>
        </p:spPr>
      </p:pic>
      <p:sp>
        <p:nvSpPr>
          <p:cNvPr id="17" name="Text 12"/>
          <p:cNvSpPr/>
          <p:nvPr/>
        </p:nvSpPr>
        <p:spPr>
          <a:xfrm>
            <a:off x="9272016" y="2148840"/>
            <a:ext cx="2148840" cy="713232"/>
          </a:xfrm>
          <a:prstGeom prst="rect">
            <a:avLst/>
          </a:prstGeom>
          <a:noFill/>
          <a:ln/>
        </p:spPr>
        <p:txBody>
          <a:bodyPr wrap="square" lIns="0" tIns="0" rIns="0" bIns="0" rtlCol="0" anchor="ctr"/>
          <a:lstStyle/>
          <a:p>
            <a:pPr indent="0" marL="0">
              <a:lnSpc>
                <a:spcPct val="100000"/>
              </a:lnSpc>
              <a:buNone/>
            </a:pPr>
            <a:r>
              <a:rPr lang="en-US" sz="1500" b="1" dirty="0">
                <a:solidFill>
                  <a:srgbClr val="23272E"/>
                </a:solidFill>
                <a:latin typeface="Calibri" pitchFamily="34" charset="0"/>
                <a:ea typeface="Calibri" pitchFamily="34" charset="-122"/>
                <a:cs typeface="Calibri" pitchFamily="34" charset="-120"/>
              </a:rPr>
              <a:t>Bring domain expertise</a:t>
            </a:r>
            <a:endParaRPr lang="en-US" sz="1500" dirty="0"/>
          </a:p>
        </p:txBody>
      </p:sp>
      <p:sp>
        <p:nvSpPr>
          <p:cNvPr id="18" name="Text 13"/>
          <p:cNvSpPr/>
          <p:nvPr/>
        </p:nvSpPr>
        <p:spPr>
          <a:xfrm>
            <a:off x="8467344" y="3081528"/>
            <a:ext cx="2935224" cy="1188720"/>
          </a:xfrm>
          <a:prstGeom prst="rect">
            <a:avLst/>
          </a:prstGeom>
          <a:noFill/>
          <a:ln/>
        </p:spPr>
        <p:txBody>
          <a:bodyPr wrap="square" lIns="0" tIns="0" rIns="0" bIns="0" rtlCol="0" anchor="t"/>
          <a:lstStyle/>
          <a:p>
            <a:pPr indent="0" marL="0">
              <a:lnSpc>
                <a:spcPct val="108000"/>
              </a:lnSpc>
              <a:buNone/>
            </a:pPr>
            <a:r>
              <a:rPr lang="en-US" sz="1250" dirty="0">
                <a:solidFill>
                  <a:srgbClr val="3A3F47"/>
                </a:solidFill>
                <a:latin typeface="Calibri" pitchFamily="34" charset="0"/>
                <a:ea typeface="Calibri" pitchFamily="34" charset="-122"/>
                <a:cs typeface="Calibri" pitchFamily="34" charset="-120"/>
              </a:rPr>
              <a:t>Some knowledge simply isn't in the training data — proprietary processes, tacit domain judgment, edge cases only practitioners have seen.</a:t>
            </a:r>
            <a:endParaRPr lang="en-US" sz="1250" dirty="0"/>
          </a:p>
        </p:txBody>
      </p:sp>
      <p:sp>
        <p:nvSpPr>
          <p:cNvPr id="19" name="Shape 14"/>
          <p:cNvSpPr/>
          <p:nvPr/>
        </p:nvSpPr>
        <p:spPr>
          <a:xfrm>
            <a:off x="566928" y="4754880"/>
            <a:ext cx="11064240" cy="1234440"/>
          </a:xfrm>
          <a:prstGeom prst="roundRect">
            <a:avLst>
              <a:gd name="adj" fmla="val 7407"/>
            </a:avLst>
          </a:prstGeom>
          <a:solidFill>
            <a:srgbClr val="23272E"/>
          </a:solidFill>
          <a:ln/>
        </p:spPr>
      </p:sp>
      <p:sp>
        <p:nvSpPr>
          <p:cNvPr id="20" name="Text 15"/>
          <p:cNvSpPr/>
          <p:nvPr/>
        </p:nvSpPr>
        <p:spPr>
          <a:xfrm>
            <a:off x="914400" y="4892040"/>
            <a:ext cx="10332720" cy="548640"/>
          </a:xfrm>
          <a:prstGeom prst="rect">
            <a:avLst/>
          </a:prstGeom>
          <a:noFill/>
          <a:ln/>
        </p:spPr>
        <p:txBody>
          <a:bodyPr wrap="square" lIns="0" tIns="0" rIns="0" bIns="0" rtlCol="0" anchor="ctr"/>
          <a:lstStyle/>
          <a:p>
            <a:pPr indent="0" marL="0">
              <a:buNone/>
            </a:pPr>
            <a:r>
              <a:rPr lang="en-US" sz="2200" b="1" i="1" dirty="0">
                <a:solidFill>
                  <a:srgbClr val="FFFFFF"/>
                </a:solidFill>
                <a:latin typeface="Cambria" pitchFamily="34" charset="0"/>
                <a:ea typeface="Cambria" pitchFamily="34" charset="-122"/>
                <a:cs typeface="Cambria" pitchFamily="34" charset="-120"/>
              </a:rPr>
              <a:t>“AI doesn’t know what I know.”</a:t>
            </a:r>
            <a:endParaRPr lang="en-US" sz="2200" dirty="0"/>
          </a:p>
        </p:txBody>
      </p:sp>
      <p:sp>
        <p:nvSpPr>
          <p:cNvPr id="21" name="Text 16"/>
          <p:cNvSpPr/>
          <p:nvPr/>
        </p:nvSpPr>
        <p:spPr>
          <a:xfrm>
            <a:off x="914400" y="5440680"/>
            <a:ext cx="10332720" cy="365760"/>
          </a:xfrm>
          <a:prstGeom prst="rect">
            <a:avLst/>
          </a:prstGeom>
          <a:noFill/>
          <a:ln/>
        </p:spPr>
        <p:txBody>
          <a:bodyPr wrap="square" lIns="0" tIns="0" rIns="0" bIns="0" rtlCol="0" anchor="ctr"/>
          <a:lstStyle/>
          <a:p>
            <a:pPr indent="0" marL="0">
              <a:buNone/>
            </a:pPr>
            <a:r>
              <a:rPr lang="en-US" sz="1300" dirty="0">
                <a:solidFill>
                  <a:srgbClr val="C9D2DC"/>
                </a:solidFill>
                <a:latin typeface="Calibri" pitchFamily="34" charset="0"/>
                <a:ea typeface="Calibri" pitchFamily="34" charset="-122"/>
                <a:cs typeface="Calibri" pitchFamily="34" charset="-120"/>
              </a:rPr>
              <a:t>— a chief chemist at Honeywell, on why expert review still matters</a:t>
            </a:r>
            <a:endParaRPr lang="en-US" sz="1300" dirty="0"/>
          </a:p>
        </p:txBody>
      </p:sp>
      <p:sp>
        <p:nvSpPr>
          <p:cNvPr id="22" name="Text 17"/>
          <p:cNvSpPr/>
          <p:nvPr/>
        </p:nvSpPr>
        <p:spPr>
          <a:xfrm>
            <a:off x="566928" y="6144768"/>
            <a:ext cx="11064240" cy="32004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On autorater bias relative to human raters: Chaganty, Mussmann &amp; Liang (ACL 2018); Zheng et al. (NeurIPS 2023).</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10972800" cy="274320"/>
          </a:xfrm>
          <a:prstGeom prst="rect">
            <a:avLst/>
          </a:prstGeom>
          <a:noFill/>
          <a:ln/>
        </p:spPr>
        <p:txBody>
          <a:bodyPr wrap="square" lIns="0" tIns="0" rIns="0" bIns="0" rtlCol="0" anchor="ctr"/>
          <a:lstStyle/>
          <a:p>
            <a:pPr indent="0" marL="0">
              <a:buNone/>
            </a:pPr>
            <a:r>
              <a:rPr lang="en-US" sz="1100" b="1" spc="300" kern="0" dirty="0">
                <a:solidFill>
                  <a:srgbClr val="0F766E"/>
                </a:solidFill>
                <a:latin typeface="Calibri" pitchFamily="34" charset="0"/>
                <a:ea typeface="Calibri" pitchFamily="34" charset="-122"/>
                <a:cs typeface="Calibri" pitchFamily="34" charset="-120"/>
              </a:rPr>
              <a:t>STEELMAN</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23272E"/>
                </a:solidFill>
                <a:latin typeface="Cambria" pitchFamily="34" charset="0"/>
                <a:ea typeface="Cambria" pitchFamily="34" charset="-122"/>
                <a:cs typeface="Cambria" pitchFamily="34" charset="-120"/>
              </a:rPr>
              <a:t>But When Might We Not Need Humans?</a:t>
            </a:r>
            <a:endParaRPr lang="en-US" sz="3000" dirty="0"/>
          </a:p>
        </p:txBody>
      </p:sp>
      <p:sp>
        <p:nvSpPr>
          <p:cNvPr id="4" name="Text 2"/>
          <p:cNvSpPr/>
          <p:nvPr/>
        </p:nvSpPr>
        <p:spPr>
          <a:xfrm>
            <a:off x="566928" y="1417320"/>
            <a:ext cx="5394960" cy="36576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Where LLM-only holds up</a:t>
            </a:r>
            <a:endParaRPr lang="en-US" sz="1800" dirty="0"/>
          </a:p>
        </p:txBody>
      </p:sp>
      <p:sp>
        <p:nvSpPr>
          <p:cNvPr id="5" name="Shape 3"/>
          <p:cNvSpPr/>
          <p:nvPr/>
        </p:nvSpPr>
        <p:spPr>
          <a:xfrm>
            <a:off x="566928" y="2194560"/>
            <a:ext cx="640080" cy="640080"/>
          </a:xfrm>
          <a:prstGeom prst="ellipse">
            <a:avLst/>
          </a:prstGeom>
          <a:solidFill>
            <a:srgbClr val="D5E9E5"/>
          </a:solidFill>
          <a:ln/>
        </p:spPr>
      </p:sp>
      <p:pic>
        <p:nvPicPr>
          <p:cNvPr id="6" name="Image 0" descr="preencoded.png">    </p:cNvPr>
          <p:cNvPicPr>
            <a:picLocks noChangeAspect="1"/>
          </p:cNvPicPr>
          <p:nvPr/>
        </p:nvPicPr>
        <p:blipFill>
          <a:blip r:embed="rId1"/>
          <a:stretch>
            <a:fillRect/>
          </a:stretch>
        </p:blipFill>
        <p:spPr>
          <a:xfrm>
            <a:off x="717804" y="2345436"/>
            <a:ext cx="338328" cy="338328"/>
          </a:xfrm>
          <a:prstGeom prst="rect">
            <a:avLst/>
          </a:prstGeom>
        </p:spPr>
      </p:pic>
      <p:sp>
        <p:nvSpPr>
          <p:cNvPr id="7" name="Text 4"/>
          <p:cNvSpPr/>
          <p:nvPr/>
        </p:nvSpPr>
        <p:spPr>
          <a:xfrm>
            <a:off x="1417320" y="2148840"/>
            <a:ext cx="4526280" cy="365760"/>
          </a:xfrm>
          <a:prstGeom prst="rect">
            <a:avLst/>
          </a:prstGeom>
          <a:noFill/>
          <a:ln/>
        </p:spPr>
        <p:txBody>
          <a:bodyPr wrap="square" lIns="0" tIns="0" rIns="0" bIns="0" rtlCol="0" anchor="ctr"/>
          <a:lstStyle/>
          <a:p>
            <a:pPr indent="0" marL="0">
              <a:buNone/>
            </a:pPr>
            <a:r>
              <a:rPr lang="en-US" sz="1500" b="1" dirty="0">
                <a:solidFill>
                  <a:srgbClr val="23272E"/>
                </a:solidFill>
                <a:latin typeface="Calibri" pitchFamily="34" charset="0"/>
                <a:ea typeface="Calibri" pitchFamily="34" charset="-122"/>
                <a:cs typeface="Calibri" pitchFamily="34" charset="-120"/>
              </a:rPr>
              <a:t>First pass &amp; quick sanity checks</a:t>
            </a:r>
            <a:endParaRPr lang="en-US" sz="1500" dirty="0"/>
          </a:p>
        </p:txBody>
      </p:sp>
      <p:sp>
        <p:nvSpPr>
          <p:cNvPr id="8" name="Text 5"/>
          <p:cNvSpPr/>
          <p:nvPr/>
        </p:nvSpPr>
        <p:spPr>
          <a:xfrm>
            <a:off x="1417320" y="2514600"/>
            <a:ext cx="4526280" cy="822960"/>
          </a:xfrm>
          <a:prstGeom prst="rect">
            <a:avLst/>
          </a:prstGeom>
          <a:noFill/>
          <a:ln/>
        </p:spPr>
        <p:txBody>
          <a:bodyPr wrap="square" lIns="0" tIns="0" rIns="0" bIns="0" rtlCol="0" anchor="t"/>
          <a:lstStyle/>
          <a:p>
            <a:pPr indent="0" marL="0">
              <a:lnSpc>
                <a:spcPct val="108000"/>
              </a:lnSpc>
              <a:buNone/>
            </a:pPr>
            <a:r>
              <a:rPr lang="en-US" sz="1250" dirty="0">
                <a:solidFill>
                  <a:srgbClr val="3A3F47"/>
                </a:solidFill>
                <a:latin typeface="Calibri" pitchFamily="34" charset="0"/>
                <a:ea typeface="Calibri" pitchFamily="34" charset="-122"/>
                <a:cs typeface="Calibri" pitchFamily="34" charset="-120"/>
              </a:rPr>
              <a:t>LLMs do okay as a fast, cheap directional read before any human touches the data.</a:t>
            </a:r>
            <a:endParaRPr lang="en-US" sz="1250" dirty="0"/>
          </a:p>
        </p:txBody>
      </p:sp>
      <p:sp>
        <p:nvSpPr>
          <p:cNvPr id="9" name="Shape 6"/>
          <p:cNvSpPr/>
          <p:nvPr/>
        </p:nvSpPr>
        <p:spPr>
          <a:xfrm>
            <a:off x="566928" y="3566160"/>
            <a:ext cx="640080" cy="640080"/>
          </a:xfrm>
          <a:prstGeom prst="ellipse">
            <a:avLst/>
          </a:prstGeom>
          <a:solidFill>
            <a:srgbClr val="D5E9E5"/>
          </a:solidFill>
          <a:ln/>
        </p:spPr>
      </p:sp>
      <p:pic>
        <p:nvPicPr>
          <p:cNvPr id="10" name="Image 1" descr="preencoded.png">    </p:cNvPr>
          <p:cNvPicPr>
            <a:picLocks noChangeAspect="1"/>
          </p:cNvPicPr>
          <p:nvPr/>
        </p:nvPicPr>
        <p:blipFill>
          <a:blip r:embed="rId2"/>
          <a:stretch>
            <a:fillRect/>
          </a:stretch>
        </p:blipFill>
        <p:spPr>
          <a:xfrm>
            <a:off x="717804" y="3717036"/>
            <a:ext cx="338328" cy="338328"/>
          </a:xfrm>
          <a:prstGeom prst="rect">
            <a:avLst/>
          </a:prstGeom>
        </p:spPr>
      </p:pic>
      <p:sp>
        <p:nvSpPr>
          <p:cNvPr id="11" name="Text 7"/>
          <p:cNvSpPr/>
          <p:nvPr/>
        </p:nvSpPr>
        <p:spPr>
          <a:xfrm>
            <a:off x="1417320" y="3520440"/>
            <a:ext cx="4526280" cy="365760"/>
          </a:xfrm>
          <a:prstGeom prst="rect">
            <a:avLst/>
          </a:prstGeom>
          <a:noFill/>
          <a:ln/>
        </p:spPr>
        <p:txBody>
          <a:bodyPr wrap="square" lIns="0" tIns="0" rIns="0" bIns="0" rtlCol="0" anchor="ctr"/>
          <a:lstStyle/>
          <a:p>
            <a:pPr indent="0" marL="0">
              <a:buNone/>
            </a:pPr>
            <a:r>
              <a:rPr lang="en-US" sz="1500" b="1" dirty="0">
                <a:solidFill>
                  <a:srgbClr val="23272E"/>
                </a:solidFill>
                <a:latin typeface="Calibri" pitchFamily="34" charset="0"/>
                <a:ea typeface="Calibri" pitchFamily="34" charset="-122"/>
                <a:cs typeface="Calibri" pitchFamily="34" charset="-120"/>
              </a:rPr>
              <a:t>Simple, well-specified checks</a:t>
            </a:r>
            <a:endParaRPr lang="en-US" sz="1500" dirty="0"/>
          </a:p>
        </p:txBody>
      </p:sp>
      <p:sp>
        <p:nvSpPr>
          <p:cNvPr id="12" name="Text 8"/>
          <p:cNvSpPr/>
          <p:nvPr/>
        </p:nvSpPr>
        <p:spPr>
          <a:xfrm>
            <a:off x="1417320" y="3886200"/>
            <a:ext cx="4526280" cy="822960"/>
          </a:xfrm>
          <a:prstGeom prst="rect">
            <a:avLst/>
          </a:prstGeom>
          <a:noFill/>
          <a:ln/>
        </p:spPr>
        <p:txBody>
          <a:bodyPr wrap="square" lIns="0" tIns="0" rIns="0" bIns="0" rtlCol="0" anchor="t"/>
          <a:lstStyle/>
          <a:p>
            <a:pPr indent="0" marL="0">
              <a:lnSpc>
                <a:spcPct val="108000"/>
              </a:lnSpc>
              <a:buNone/>
            </a:pPr>
            <a:r>
              <a:rPr lang="en-US" sz="1250" dirty="0">
                <a:solidFill>
                  <a:srgbClr val="3A3F47"/>
                </a:solidFill>
                <a:latin typeface="Calibri" pitchFamily="34" charset="0"/>
                <a:ea typeface="Calibri" pitchFamily="34" charset="-122"/>
                <a:cs typeface="Calibri" pitchFamily="34" charset="-120"/>
              </a:rPr>
              <a:t>Format compliance, exact match, refusal detection — narrow criteria a judge scores reliably.</a:t>
            </a:r>
            <a:endParaRPr lang="en-US" sz="1250" dirty="0"/>
          </a:p>
        </p:txBody>
      </p:sp>
      <p:sp>
        <p:nvSpPr>
          <p:cNvPr id="13" name="Shape 9"/>
          <p:cNvSpPr/>
          <p:nvPr/>
        </p:nvSpPr>
        <p:spPr>
          <a:xfrm>
            <a:off x="566928" y="4937760"/>
            <a:ext cx="640080" cy="640080"/>
          </a:xfrm>
          <a:prstGeom prst="ellipse">
            <a:avLst/>
          </a:prstGeom>
          <a:solidFill>
            <a:srgbClr val="D5E9E5"/>
          </a:solidFill>
          <a:ln/>
        </p:spPr>
      </p:sp>
      <p:pic>
        <p:nvPicPr>
          <p:cNvPr id="14" name="Image 2" descr="preencoded.png">    </p:cNvPr>
          <p:cNvPicPr>
            <a:picLocks noChangeAspect="1"/>
          </p:cNvPicPr>
          <p:nvPr/>
        </p:nvPicPr>
        <p:blipFill>
          <a:blip r:embed="rId3"/>
          <a:stretch>
            <a:fillRect/>
          </a:stretch>
        </p:blipFill>
        <p:spPr>
          <a:xfrm>
            <a:off x="717804" y="5088636"/>
            <a:ext cx="338328" cy="338328"/>
          </a:xfrm>
          <a:prstGeom prst="rect">
            <a:avLst/>
          </a:prstGeom>
        </p:spPr>
      </p:pic>
      <p:sp>
        <p:nvSpPr>
          <p:cNvPr id="15" name="Text 10"/>
          <p:cNvSpPr/>
          <p:nvPr/>
        </p:nvSpPr>
        <p:spPr>
          <a:xfrm>
            <a:off x="1417320" y="4892040"/>
            <a:ext cx="4526280" cy="365760"/>
          </a:xfrm>
          <a:prstGeom prst="rect">
            <a:avLst/>
          </a:prstGeom>
          <a:noFill/>
          <a:ln/>
        </p:spPr>
        <p:txBody>
          <a:bodyPr wrap="square" lIns="0" tIns="0" rIns="0" bIns="0" rtlCol="0" anchor="ctr"/>
          <a:lstStyle/>
          <a:p>
            <a:pPr indent="0" marL="0">
              <a:buNone/>
            </a:pPr>
            <a:r>
              <a:rPr lang="en-US" sz="1500" b="1" dirty="0">
                <a:solidFill>
                  <a:srgbClr val="23272E"/>
                </a:solidFill>
                <a:latin typeface="Calibri" pitchFamily="34" charset="0"/>
                <a:ea typeface="Calibri" pitchFamily="34" charset="-122"/>
                <a:cs typeface="Calibri" pitchFamily="34" charset="-120"/>
              </a:rPr>
              <a:t>Low-stakes results</a:t>
            </a:r>
            <a:endParaRPr lang="en-US" sz="1500" dirty="0"/>
          </a:p>
        </p:txBody>
      </p:sp>
      <p:sp>
        <p:nvSpPr>
          <p:cNvPr id="16" name="Text 11"/>
          <p:cNvSpPr/>
          <p:nvPr/>
        </p:nvSpPr>
        <p:spPr>
          <a:xfrm>
            <a:off x="1417320" y="5257800"/>
            <a:ext cx="4526280" cy="822960"/>
          </a:xfrm>
          <a:prstGeom prst="rect">
            <a:avLst/>
          </a:prstGeom>
          <a:noFill/>
          <a:ln/>
        </p:spPr>
        <p:txBody>
          <a:bodyPr wrap="square" lIns="0" tIns="0" rIns="0" bIns="0" rtlCol="0" anchor="t"/>
          <a:lstStyle/>
          <a:p>
            <a:pPr indent="0" marL="0">
              <a:lnSpc>
                <a:spcPct val="108000"/>
              </a:lnSpc>
              <a:buNone/>
            </a:pPr>
            <a:r>
              <a:rPr lang="en-US" sz="1250" dirty="0">
                <a:solidFill>
                  <a:srgbClr val="3A3F47"/>
                </a:solidFill>
                <a:latin typeface="Calibri" pitchFamily="34" charset="0"/>
                <a:ea typeface="Calibri" pitchFamily="34" charset="-122"/>
                <a:cs typeface="Calibri" pitchFamily="34" charset="-120"/>
              </a:rPr>
              <a:t>When little rides on the number, cheap and instant beats slow and certified…</a:t>
            </a:r>
            <a:endParaRPr lang="en-US" sz="1250" dirty="0"/>
          </a:p>
        </p:txBody>
      </p:sp>
      <p:sp>
        <p:nvSpPr>
          <p:cNvPr id="17" name="Shape 12"/>
          <p:cNvSpPr/>
          <p:nvPr/>
        </p:nvSpPr>
        <p:spPr>
          <a:xfrm>
            <a:off x="6400800" y="1417320"/>
            <a:ext cx="5212080" cy="4709160"/>
          </a:xfrm>
          <a:prstGeom prst="roundRect">
            <a:avLst>
              <a:gd name="adj" fmla="val 2330"/>
            </a:avLst>
          </a:prstGeom>
          <a:solidFill>
            <a:srgbClr val="23272E"/>
          </a:solidFill>
          <a:ln/>
        </p:spPr>
      </p:sp>
      <p:sp>
        <p:nvSpPr>
          <p:cNvPr id="18" name="Text 13"/>
          <p:cNvSpPr/>
          <p:nvPr/>
        </p:nvSpPr>
        <p:spPr>
          <a:xfrm>
            <a:off x="6766560" y="1737360"/>
            <a:ext cx="4480560" cy="320040"/>
          </a:xfrm>
          <a:prstGeom prst="rect">
            <a:avLst/>
          </a:prstGeom>
          <a:noFill/>
          <a:ln/>
        </p:spPr>
        <p:txBody>
          <a:bodyPr wrap="square" lIns="0" tIns="0" rIns="0" bIns="0" rtlCol="0" anchor="ctr"/>
          <a:lstStyle/>
          <a:p>
            <a:pPr indent="0" marL="0">
              <a:buNone/>
            </a:pPr>
            <a:r>
              <a:rPr lang="en-US" sz="1200" b="1" spc="300" kern="0" dirty="0">
                <a:solidFill>
                  <a:srgbClr val="D97706"/>
                </a:solidFill>
                <a:latin typeface="Calibri" pitchFamily="34" charset="0"/>
                <a:ea typeface="Calibri" pitchFamily="34" charset="-122"/>
                <a:cs typeface="Calibri" pitchFamily="34" charset="-120"/>
              </a:rPr>
              <a:t>THE CRUX</a:t>
            </a:r>
            <a:endParaRPr lang="en-US" sz="1200" dirty="0"/>
          </a:p>
        </p:txBody>
      </p:sp>
      <p:sp>
        <p:nvSpPr>
          <p:cNvPr id="19" name="Text 14"/>
          <p:cNvSpPr/>
          <p:nvPr/>
        </p:nvSpPr>
        <p:spPr>
          <a:xfrm>
            <a:off x="6766560" y="2029968"/>
            <a:ext cx="4480560" cy="731520"/>
          </a:xfrm>
          <a:prstGeom prst="rect">
            <a:avLst/>
          </a:prstGeom>
          <a:noFill/>
          <a:ln/>
        </p:spPr>
        <p:txBody>
          <a:bodyPr wrap="square" lIns="0" tIns="0" rIns="0" bIns="0" rtlCol="0" anchor="ctr"/>
          <a:lstStyle/>
          <a:p>
            <a:pPr indent="0" marL="0">
              <a:lnSpc>
                <a:spcPct val="105000"/>
              </a:lnSpc>
              <a:buNone/>
            </a:pPr>
            <a:r>
              <a:rPr lang="en-US" sz="2000" b="1" dirty="0">
                <a:solidFill>
                  <a:srgbClr val="FFFFFF"/>
                </a:solidFill>
                <a:latin typeface="Cambria" pitchFamily="34" charset="0"/>
                <a:ea typeface="Cambria" pitchFamily="34" charset="-122"/>
                <a:cs typeface="Cambria" pitchFamily="34" charset="-120"/>
              </a:rPr>
              <a:t>“Results not important” is never fully true.</a:t>
            </a:r>
            <a:endParaRPr lang="en-US" sz="2000" dirty="0"/>
          </a:p>
        </p:txBody>
      </p:sp>
      <p:sp>
        <p:nvSpPr>
          <p:cNvPr id="20" name="Text 15"/>
          <p:cNvSpPr/>
          <p:nvPr/>
        </p:nvSpPr>
        <p:spPr>
          <a:xfrm>
            <a:off x="6766560" y="2834640"/>
            <a:ext cx="4480560" cy="2606040"/>
          </a:xfrm>
          <a:prstGeom prst="rect">
            <a:avLst/>
          </a:prstGeom>
          <a:noFill/>
          <a:ln/>
        </p:spPr>
        <p:txBody>
          <a:bodyPr wrap="square" lIns="0" tIns="0" rIns="0" bIns="0" rtlCol="0" anchor="t"/>
          <a:lstStyle/>
          <a:p>
            <a:pPr indent="0" marL="0">
              <a:lnSpc>
                <a:spcPct val="110000"/>
              </a:lnSpc>
              <a:spcAft>
                <a:spcPts val="700"/>
              </a:spcAft>
              <a:buNone/>
            </a:pPr>
            <a:r>
              <a:rPr lang="en-US" sz="1300" dirty="0">
                <a:solidFill>
                  <a:srgbClr val="C9D2DC"/>
                </a:solidFill>
                <a:latin typeface="Calibri" pitchFamily="34" charset="0"/>
                <a:ea typeface="Calibri" pitchFamily="34" charset="-122"/>
                <a:cs typeface="Calibri" pitchFamily="34" charset="-120"/>
              </a:rPr>
              <a:t>There is always some importance — so treat it as a dial, not a switch:</a:t>
            </a:r>
            <a:endParaRPr lang="en-US" sz="1300" dirty="0"/>
          </a:p>
          <a:p>
            <a:pPr marL="152400" indent="-152400">
              <a:lnSpc>
                <a:spcPct val="110000"/>
              </a:lnSpc>
              <a:spcAft>
                <a:spcPts val="700"/>
              </a:spcAft>
              <a:buSzPct val="100000"/>
              <a:buChar char="•"/>
            </a:pPr>
            <a:r>
              <a:rPr lang="en-US" sz="1300" dirty="0">
                <a:solidFill>
                  <a:srgbClr val="C9D2DC"/>
                </a:solidFill>
                <a:latin typeface="Calibri" pitchFamily="34" charset="0"/>
                <a:ea typeface="Calibri" pitchFamily="34" charset="-122"/>
                <a:cs typeface="Calibri" pitchFamily="34" charset="-120"/>
              </a:rPr>
              <a:t>Spot-check N data points, with N scaled to the stakes of the decision.</a:t>
            </a:r>
            <a:endParaRPr lang="en-US" sz="1300" dirty="0"/>
          </a:p>
          <a:p>
            <a:pPr marL="152400" indent="-152400">
              <a:lnSpc>
                <a:spcPct val="110000"/>
              </a:lnSpc>
              <a:spcAft>
                <a:spcPts val="700"/>
              </a:spcAft>
              <a:buSzPct val="100000"/>
              <a:buChar char="•"/>
            </a:pPr>
            <a:r>
              <a:rPr lang="en-US" sz="1300" dirty="0">
                <a:solidFill>
                  <a:srgbClr val="C9D2DC"/>
                </a:solidFill>
                <a:latin typeface="Calibri" pitchFamily="34" charset="0"/>
                <a:ea typeface="Calibri" pitchFamily="34" charset="-122"/>
                <a:cs typeface="Calibri" pitchFamily="34" charset="-120"/>
              </a:rPr>
              <a:t>On any important experiment, humans review the actual wins and losses — not just the aggregate delta.</a:t>
            </a:r>
            <a:endParaRPr lang="en-US" sz="1300" dirty="0"/>
          </a:p>
          <a:p>
            <a:pPr marL="152400" indent="-152400">
              <a:lnSpc>
                <a:spcPct val="110000"/>
              </a:lnSpc>
              <a:buSzPct val="100000"/>
              <a:buChar char="•"/>
            </a:pPr>
            <a:r>
              <a:rPr lang="en-US" sz="1300" dirty="0">
                <a:solidFill>
                  <a:srgbClr val="C9D2DC"/>
                </a:solidFill>
                <a:latin typeface="Calibri" pitchFamily="34" charset="0"/>
                <a:ea typeface="Calibri" pitchFamily="34" charset="-122"/>
                <a:cs typeface="Calibri" pitchFamily="34" charset="-120"/>
              </a:rPr>
              <a:t>Done rigorously, that review corrects your point estimate and sets your CI width — the human effort shows up in the error bars.</a:t>
            </a:r>
            <a:endParaRPr lang="en-US" sz="1300" dirty="0"/>
          </a:p>
        </p:txBody>
      </p:sp>
      <p:sp>
        <p:nvSpPr>
          <p:cNvPr id="21" name="Text 16"/>
          <p:cNvSpPr/>
          <p:nvPr/>
        </p:nvSpPr>
        <p:spPr>
          <a:xfrm>
            <a:off x="6766560" y="5504688"/>
            <a:ext cx="4480560" cy="457200"/>
          </a:xfrm>
          <a:prstGeom prst="rect">
            <a:avLst/>
          </a:prstGeom>
          <a:noFill/>
          <a:ln/>
        </p:spPr>
        <p:txBody>
          <a:bodyPr wrap="square" lIns="0" tIns="0" rIns="0" bIns="0" rtlCol="0" anchor="t"/>
          <a:lstStyle/>
          <a:p>
            <a:pPr indent="0" marL="0">
              <a:buNone/>
            </a:pPr>
            <a:r>
              <a:rPr lang="en-US" sz="1300" i="1" dirty="0">
                <a:solidFill>
                  <a:srgbClr val="D97706"/>
                </a:solidFill>
                <a:latin typeface="Calibri" pitchFamily="34" charset="0"/>
                <a:ea typeface="Calibri" pitchFamily="34" charset="-122"/>
                <a:cs typeface="Calibri" pitchFamily="34" charset="-120"/>
              </a:rPr>
              <a:t>Human review isn’t on/off — it’s a budget you allocate by risk.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10972800" cy="274320"/>
          </a:xfrm>
          <a:prstGeom prst="rect">
            <a:avLst/>
          </a:prstGeom>
          <a:noFill/>
          <a:ln/>
        </p:spPr>
        <p:txBody>
          <a:bodyPr wrap="square" lIns="0" tIns="0" rIns="0" bIns="0" rtlCol="0" anchor="ctr"/>
          <a:lstStyle/>
          <a:p>
            <a:pPr indent="0" marL="0">
              <a:buNone/>
            </a:pPr>
            <a:r>
              <a:rPr lang="en-US" sz="1100" b="1" spc="300" kern="0" dirty="0">
                <a:solidFill>
                  <a:srgbClr val="D97706"/>
                </a:solidFill>
                <a:latin typeface="Calibri" pitchFamily="34" charset="0"/>
                <a:ea typeface="Calibri" pitchFamily="34" charset="-122"/>
                <a:cs typeface="Calibri" pitchFamily="34" charset="-120"/>
              </a:rPr>
              <a:t>SIZING THE HUMAN BUDGET</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23272E"/>
                </a:solidFill>
                <a:latin typeface="Cambria" pitchFamily="34" charset="0"/>
                <a:ea typeface="Cambria" pitchFamily="34" charset="-122"/>
                <a:cs typeface="Cambria" pitchFamily="34" charset="-120"/>
              </a:rPr>
              <a:t>How Much Human Review Do You Actually Need?</a:t>
            </a:r>
            <a:endParaRPr lang="en-US" sz="3000" dirty="0"/>
          </a:p>
        </p:txBody>
      </p:sp>
      <p:pic>
        <p:nvPicPr>
          <p:cNvPr id="4" name="Image 0" descr="/home/claude/deck/ci_chart.png">    </p:cNvPr>
          <p:cNvPicPr>
            <a:picLocks noChangeAspect="1"/>
          </p:cNvPicPr>
          <p:nvPr/>
        </p:nvPicPr>
        <p:blipFill>
          <a:blip r:embed="rId1"/>
          <a:stretch>
            <a:fillRect/>
          </a:stretch>
        </p:blipFill>
        <p:spPr>
          <a:xfrm>
            <a:off x="566928" y="1371600"/>
            <a:ext cx="6903720" cy="4663440"/>
          </a:xfrm>
          <a:prstGeom prst="rect">
            <a:avLst/>
          </a:prstGeom>
        </p:spPr>
      </p:pic>
      <p:sp>
        <p:nvSpPr>
          <p:cNvPr id="5" name="Shape 2"/>
          <p:cNvSpPr/>
          <p:nvPr/>
        </p:nvSpPr>
        <p:spPr>
          <a:xfrm>
            <a:off x="7726680" y="1371600"/>
            <a:ext cx="3904488" cy="4663440"/>
          </a:xfrm>
          <a:prstGeom prst="roundRect">
            <a:avLst>
              <a:gd name="adj" fmla="val 2342"/>
            </a:avLst>
          </a:prstGeom>
          <a:solidFill>
            <a:srgbClr val="EEF0F3"/>
          </a:solidFill>
          <a:ln w="12700">
            <a:solidFill>
              <a:srgbClr val="D8DCE1"/>
            </a:solidFill>
            <a:prstDash val="solid"/>
          </a:ln>
        </p:spPr>
      </p:sp>
      <p:sp>
        <p:nvSpPr>
          <p:cNvPr id="6" name="Text 3"/>
          <p:cNvSpPr/>
          <p:nvPr/>
        </p:nvSpPr>
        <p:spPr>
          <a:xfrm>
            <a:off x="8019288" y="1600200"/>
            <a:ext cx="3319272" cy="3200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The setup</a:t>
            </a:r>
            <a:endParaRPr lang="en-US" sz="1300" dirty="0"/>
          </a:p>
        </p:txBody>
      </p:sp>
      <p:sp>
        <p:nvSpPr>
          <p:cNvPr id="7" name="Text 4"/>
          <p:cNvSpPr/>
          <p:nvPr/>
        </p:nvSpPr>
        <p:spPr>
          <a:xfrm>
            <a:off x="8019288" y="1938528"/>
            <a:ext cx="3319272" cy="1051560"/>
          </a:xfrm>
          <a:prstGeom prst="rect">
            <a:avLst/>
          </a:prstGeom>
          <a:noFill/>
          <a:ln/>
        </p:spPr>
        <p:txBody>
          <a:bodyPr wrap="square" lIns="0" tIns="0" rIns="0" bIns="0" rtlCol="0" anchor="t"/>
          <a:lstStyle/>
          <a:p>
            <a:pPr indent="0" marL="0">
              <a:lnSpc>
                <a:spcPct val="110000"/>
              </a:lnSpc>
              <a:buNone/>
            </a:pPr>
            <a:r>
              <a:rPr lang="en-US" sz="1200" dirty="0">
                <a:solidFill>
                  <a:srgbClr val="3A3F47"/>
                </a:solidFill>
                <a:latin typeface="Calibri" pitchFamily="34" charset="0"/>
                <a:ea typeface="Calibri" pitchFamily="34" charset="-122"/>
                <a:cs typeface="Calibri" pitchFamily="34" charset="-120"/>
              </a:rPr>
              <a:t>An LLM judge scores every item cheaply but carries a systematic bias. Humans review a random subset; the mean human–judge difference de-biases the estimate.</a:t>
            </a:r>
            <a:endParaRPr lang="en-US" sz="1200" dirty="0"/>
          </a:p>
        </p:txBody>
      </p:sp>
      <p:sp>
        <p:nvSpPr>
          <p:cNvPr id="8" name="Text 5"/>
          <p:cNvSpPr/>
          <p:nvPr/>
        </p:nvSpPr>
        <p:spPr>
          <a:xfrm>
            <a:off x="8019288" y="3063240"/>
            <a:ext cx="3319272" cy="3200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What the curve says</a:t>
            </a:r>
            <a:endParaRPr lang="en-US" sz="1300" dirty="0"/>
          </a:p>
        </p:txBody>
      </p:sp>
      <p:sp>
        <p:nvSpPr>
          <p:cNvPr id="9" name="Text 6"/>
          <p:cNvSpPr/>
          <p:nvPr/>
        </p:nvSpPr>
        <p:spPr>
          <a:xfrm>
            <a:off x="8019288" y="3401568"/>
            <a:ext cx="3319272" cy="1828800"/>
          </a:xfrm>
          <a:prstGeom prst="rect">
            <a:avLst/>
          </a:prstGeom>
          <a:noFill/>
          <a:ln/>
        </p:spPr>
        <p:txBody>
          <a:bodyPr wrap="square" lIns="0" tIns="0" rIns="0" bIns="0" rtlCol="0" anchor="t"/>
          <a:lstStyle/>
          <a:p>
            <a:pPr marL="139700" indent="-139700">
              <a:lnSpc>
                <a:spcPct val="110000"/>
              </a:lnSpc>
              <a:spcAft>
                <a:spcPts val="700"/>
              </a:spcAft>
              <a:buSzPct val="100000"/>
              <a:buChar char="•"/>
            </a:pPr>
            <a:r>
              <a:rPr lang="en-US" sz="1200" dirty="0">
                <a:solidFill>
                  <a:srgbClr val="3A3F47"/>
                </a:solidFill>
                <a:latin typeface="Calibri" pitchFamily="34" charset="0"/>
                <a:ea typeface="Calibri" pitchFamily="34" charset="-122"/>
                <a:cs typeface="Calibri" pitchFamily="34" charset="-120"/>
              </a:rPr>
              <a:t>Precision of the correction scales as 1/√n — so 10 → 40 reviews halves the interval.</a:t>
            </a:r>
            <a:endParaRPr lang="en-US" sz="1200" dirty="0"/>
          </a:p>
          <a:p>
            <a:pPr marL="139700" indent="-139700">
              <a:lnSpc>
                <a:spcPct val="110000"/>
              </a:lnSpc>
              <a:spcAft>
                <a:spcPts val="700"/>
              </a:spcAft>
              <a:buSzPct val="100000"/>
              <a:buChar char="•"/>
            </a:pPr>
            <a:r>
              <a:rPr lang="en-US" sz="1200" dirty="0">
                <a:solidFill>
                  <a:srgbClr val="3A3F47"/>
                </a:solidFill>
                <a:latin typeface="Calibri" pitchFamily="34" charset="0"/>
                <a:ea typeface="Calibri" pitchFamily="34" charset="-122"/>
                <a:cs typeface="Calibri" pitchFamily="34" charset="-120"/>
              </a:rPr>
              <a:t>Under ~75 reviews, the correction is noisier than the bias it removes.</a:t>
            </a:r>
            <a:endParaRPr lang="en-US" sz="1200" dirty="0"/>
          </a:p>
          <a:p>
            <a:pPr marL="139700" indent="-139700">
              <a:lnSpc>
                <a:spcPct val="110000"/>
              </a:lnSpc>
              <a:buSzPct val="100000"/>
              <a:buChar char="•"/>
            </a:pPr>
            <a:r>
              <a:rPr lang="en-US" sz="1200" dirty="0">
                <a:solidFill>
                  <a:srgbClr val="3A3F47"/>
                </a:solidFill>
                <a:latin typeface="Calibri" pitchFamily="34" charset="0"/>
                <a:ea typeface="Calibri" pitchFamily="34" charset="-122"/>
                <a:cs typeface="Calibri" pitchFamily="34" charset="-120"/>
              </a:rPr>
              <a:t>Past ~200, returns flatten — that is where extra spend stops buying confidence.</a:t>
            </a:r>
            <a:endParaRPr lang="en-US" sz="1200" dirty="0"/>
          </a:p>
        </p:txBody>
      </p:sp>
      <p:sp>
        <p:nvSpPr>
          <p:cNvPr id="10" name="Text 7"/>
          <p:cNvSpPr/>
          <p:nvPr/>
        </p:nvSpPr>
        <p:spPr>
          <a:xfrm>
            <a:off x="8019288" y="5212080"/>
            <a:ext cx="3319272" cy="365760"/>
          </a:xfrm>
          <a:prstGeom prst="rect">
            <a:avLst/>
          </a:prstGeom>
          <a:noFill/>
          <a:ln/>
        </p:spPr>
        <p:txBody>
          <a:bodyPr wrap="square" lIns="0" tIns="0" rIns="0" bIns="0" rtlCol="0" anchor="ctr"/>
          <a:lstStyle/>
          <a:p>
            <a:pPr indent="0" marL="0">
              <a:buNone/>
            </a:pPr>
            <a:r>
              <a:rPr lang="en-US" sz="1250" b="1" i="1" dirty="0">
                <a:solidFill>
                  <a:srgbClr val="D97706"/>
                </a:solidFill>
                <a:latin typeface="Calibri" pitchFamily="34" charset="0"/>
                <a:ea typeface="Calibri" pitchFamily="34" charset="-122"/>
                <a:cs typeface="Calibri" pitchFamily="34" charset="-120"/>
              </a:rPr>
              <a:t>Human review volume is a dial you can price.</a:t>
            </a:r>
            <a:endParaRPr lang="en-US" sz="1250" dirty="0"/>
          </a:p>
        </p:txBody>
      </p:sp>
      <p:sp>
        <p:nvSpPr>
          <p:cNvPr id="11" name="Text 8"/>
          <p:cNvSpPr/>
          <p:nvPr/>
        </p:nvSpPr>
        <p:spPr>
          <a:xfrm>
            <a:off x="8019288" y="5541264"/>
            <a:ext cx="3319272" cy="457200"/>
          </a:xfrm>
          <a:prstGeom prst="rect">
            <a:avLst/>
          </a:prstGeom>
          <a:noFill/>
          <a:ln/>
        </p:spPr>
        <p:txBody>
          <a:bodyPr wrap="square" lIns="0" tIns="0" rIns="0" bIns="0" rtlCol="0" anchor="t"/>
          <a:lstStyle/>
          <a:p>
            <a:pPr indent="0" marL="0">
              <a:lnSpc>
                <a:spcPct val="105000"/>
              </a:lnSpc>
              <a:buNone/>
            </a:pPr>
            <a:r>
              <a:rPr lang="en-US" sz="950" dirty="0">
                <a:solidFill>
                  <a:srgbClr val="6B7280"/>
                </a:solidFill>
                <a:latin typeface="Calibri" pitchFamily="34" charset="0"/>
                <a:ea typeface="Calibri" pitchFamily="34" charset="-122"/>
                <a:cs typeface="Calibri" pitchFamily="34" charset="-120"/>
              </a:rPr>
              <a:t>Prediction-powered inference: Angelopoulos et al., Science (2023); PPI++: Angelopoulos, Duchi &amp; Zrnic (2023); StratPPI: Fisch et al., NeurIPS 2024.</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10972800" cy="274320"/>
          </a:xfrm>
          <a:prstGeom prst="rect">
            <a:avLst/>
          </a:prstGeom>
          <a:noFill/>
          <a:ln/>
        </p:spPr>
        <p:txBody>
          <a:bodyPr wrap="square" lIns="0" tIns="0" rIns="0" bIns="0" rtlCol="0" anchor="ctr"/>
          <a:lstStyle/>
          <a:p>
            <a:pPr indent="0" marL="0">
              <a:buNone/>
            </a:pPr>
            <a:r>
              <a:rPr lang="en-US" sz="1100" b="1" spc="300" kern="0" dirty="0">
                <a:solidFill>
                  <a:srgbClr val="D97706"/>
                </a:solidFill>
                <a:latin typeface="Calibri" pitchFamily="34" charset="0"/>
                <a:ea typeface="Calibri" pitchFamily="34" charset="-122"/>
                <a:cs typeface="Calibri" pitchFamily="34" charset="-120"/>
              </a:rPr>
              <a:t>COMPONENT 3 · METRICS &amp; ANALYSIS</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23272E"/>
                </a:solidFill>
                <a:latin typeface="Cambria" pitchFamily="34" charset="0"/>
                <a:ea typeface="Cambria" pitchFamily="34" charset="-122"/>
                <a:cs typeface="Cambria" pitchFamily="34" charset="-120"/>
              </a:rPr>
              <a:t>Metrics &amp; Analysis: Humans at the End of the Pipeline</a:t>
            </a:r>
            <a:endParaRPr lang="en-US" sz="3000" dirty="0"/>
          </a:p>
        </p:txBody>
      </p:sp>
      <p:sp>
        <p:nvSpPr>
          <p:cNvPr id="4" name="Shape 2"/>
          <p:cNvSpPr/>
          <p:nvPr/>
        </p:nvSpPr>
        <p:spPr>
          <a:xfrm>
            <a:off x="566928" y="1508760"/>
            <a:ext cx="5394960" cy="2148840"/>
          </a:xfrm>
          <a:prstGeom prst="roundRect">
            <a:avLst>
              <a:gd name="adj" fmla="val 4255"/>
            </a:avLst>
          </a:prstGeom>
          <a:solidFill>
            <a:srgbClr val="EEF0F3"/>
          </a:solidFill>
          <a:ln w="12700">
            <a:solidFill>
              <a:srgbClr val="D8DCE1"/>
            </a:solidFill>
            <a:prstDash val="solid"/>
          </a:ln>
        </p:spPr>
      </p:sp>
      <p:sp>
        <p:nvSpPr>
          <p:cNvPr id="5" name="Shape 3"/>
          <p:cNvSpPr/>
          <p:nvPr/>
        </p:nvSpPr>
        <p:spPr>
          <a:xfrm>
            <a:off x="841248" y="1783080"/>
            <a:ext cx="713232" cy="713232"/>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005840" y="1947672"/>
            <a:ext cx="384048" cy="384048"/>
          </a:xfrm>
          <a:prstGeom prst="rect">
            <a:avLst/>
          </a:prstGeom>
        </p:spPr>
      </p:pic>
      <p:sp>
        <p:nvSpPr>
          <p:cNvPr id="7" name="Text 4"/>
          <p:cNvSpPr/>
          <p:nvPr/>
        </p:nvSpPr>
        <p:spPr>
          <a:xfrm>
            <a:off x="1664208" y="1783080"/>
            <a:ext cx="4023360" cy="713232"/>
          </a:xfrm>
          <a:prstGeom prst="rect">
            <a:avLst/>
          </a:prstGeom>
          <a:noFill/>
          <a:ln/>
        </p:spPr>
        <p:txBody>
          <a:bodyPr wrap="square" lIns="0" tIns="0" rIns="0" bIns="0" rtlCol="0" anchor="ctr"/>
          <a:lstStyle/>
          <a:p>
            <a:pPr indent="0" marL="0">
              <a:lnSpc>
                <a:spcPct val="100000"/>
              </a:lnSpc>
              <a:buNone/>
            </a:pPr>
            <a:r>
              <a:rPr lang="en-US" sz="1600" b="1" dirty="0">
                <a:solidFill>
                  <a:srgbClr val="23272E"/>
                </a:solidFill>
                <a:latin typeface="Calibri" pitchFamily="34" charset="0"/>
                <a:ea typeface="Calibri" pitchFamily="34" charset="-122"/>
                <a:cs typeface="Calibri" pitchFamily="34" charset="-120"/>
              </a:rPr>
              <a:t>Metric definition</a:t>
            </a:r>
            <a:endParaRPr lang="en-US" sz="1600" dirty="0"/>
          </a:p>
        </p:txBody>
      </p:sp>
      <p:sp>
        <p:nvSpPr>
          <p:cNvPr id="8" name="Text 5"/>
          <p:cNvSpPr/>
          <p:nvPr/>
        </p:nvSpPr>
        <p:spPr>
          <a:xfrm>
            <a:off x="859536" y="2651760"/>
            <a:ext cx="4809744" cy="868680"/>
          </a:xfrm>
          <a:prstGeom prst="rect">
            <a:avLst/>
          </a:prstGeom>
          <a:noFill/>
          <a:ln/>
        </p:spPr>
        <p:txBody>
          <a:bodyPr wrap="square" lIns="0" tIns="0" rIns="0" bIns="0" rtlCol="0" anchor="t"/>
          <a:lstStyle/>
          <a:p>
            <a:pPr indent="0" marL="0">
              <a:lnSpc>
                <a:spcPct val="108000"/>
              </a:lnSpc>
              <a:buNone/>
            </a:pPr>
            <a:r>
              <a:rPr lang="en-US" sz="1250" dirty="0">
                <a:solidFill>
                  <a:srgbClr val="3A3F47"/>
                </a:solidFill>
                <a:latin typeface="Calibri" pitchFamily="34" charset="0"/>
                <a:ea typeface="Calibri" pitchFamily="34" charset="-122"/>
                <a:cs typeface="Calibri" pitchFamily="34" charset="-120"/>
              </a:rPr>
              <a:t>Every metric traces back to the objective function — and that usually needs a human to define what success even means.</a:t>
            </a:r>
            <a:endParaRPr lang="en-US" sz="1250" dirty="0"/>
          </a:p>
        </p:txBody>
      </p:sp>
      <p:sp>
        <p:nvSpPr>
          <p:cNvPr id="9" name="Shape 6"/>
          <p:cNvSpPr/>
          <p:nvPr/>
        </p:nvSpPr>
        <p:spPr>
          <a:xfrm>
            <a:off x="6281928" y="1508760"/>
            <a:ext cx="5394960" cy="2148840"/>
          </a:xfrm>
          <a:prstGeom prst="roundRect">
            <a:avLst>
              <a:gd name="adj" fmla="val 4255"/>
            </a:avLst>
          </a:prstGeom>
          <a:solidFill>
            <a:srgbClr val="EEF0F3"/>
          </a:solidFill>
          <a:ln w="12700">
            <a:solidFill>
              <a:srgbClr val="D8DCE1"/>
            </a:solidFill>
            <a:prstDash val="solid"/>
          </a:ln>
        </p:spPr>
      </p:sp>
      <p:sp>
        <p:nvSpPr>
          <p:cNvPr id="10" name="Shape 7"/>
          <p:cNvSpPr/>
          <p:nvPr/>
        </p:nvSpPr>
        <p:spPr>
          <a:xfrm>
            <a:off x="6556248" y="1783080"/>
            <a:ext cx="713232" cy="713232"/>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720840" y="1947672"/>
            <a:ext cx="384048" cy="384048"/>
          </a:xfrm>
          <a:prstGeom prst="rect">
            <a:avLst/>
          </a:prstGeom>
        </p:spPr>
      </p:pic>
      <p:sp>
        <p:nvSpPr>
          <p:cNvPr id="12" name="Text 8"/>
          <p:cNvSpPr/>
          <p:nvPr/>
        </p:nvSpPr>
        <p:spPr>
          <a:xfrm>
            <a:off x="7379208" y="1783080"/>
            <a:ext cx="4023360" cy="713232"/>
          </a:xfrm>
          <a:prstGeom prst="rect">
            <a:avLst/>
          </a:prstGeom>
          <a:noFill/>
          <a:ln/>
        </p:spPr>
        <p:txBody>
          <a:bodyPr wrap="square" lIns="0" tIns="0" rIns="0" bIns="0" rtlCol="0" anchor="ctr"/>
          <a:lstStyle/>
          <a:p>
            <a:pPr indent="0" marL="0">
              <a:lnSpc>
                <a:spcPct val="100000"/>
              </a:lnSpc>
              <a:buNone/>
            </a:pPr>
            <a:r>
              <a:rPr lang="en-US" sz="1600" b="1" dirty="0">
                <a:solidFill>
                  <a:srgbClr val="23272E"/>
                </a:solidFill>
                <a:latin typeface="Calibri" pitchFamily="34" charset="0"/>
                <a:ea typeface="Calibri" pitchFamily="34" charset="-122"/>
                <a:cs typeface="Calibri" pitchFamily="34" charset="-120"/>
              </a:rPr>
              <a:t>Calibration to expert ground truth</a:t>
            </a:r>
            <a:endParaRPr lang="en-US" sz="1600" dirty="0"/>
          </a:p>
        </p:txBody>
      </p:sp>
      <p:sp>
        <p:nvSpPr>
          <p:cNvPr id="13" name="Text 9"/>
          <p:cNvSpPr/>
          <p:nvPr/>
        </p:nvSpPr>
        <p:spPr>
          <a:xfrm>
            <a:off x="6574536" y="2651760"/>
            <a:ext cx="4809744" cy="868680"/>
          </a:xfrm>
          <a:prstGeom prst="rect">
            <a:avLst/>
          </a:prstGeom>
          <a:noFill/>
          <a:ln/>
        </p:spPr>
        <p:txBody>
          <a:bodyPr wrap="square" lIns="0" tIns="0" rIns="0" bIns="0" rtlCol="0" anchor="t"/>
          <a:lstStyle/>
          <a:p>
            <a:pPr indent="0" marL="0">
              <a:lnSpc>
                <a:spcPct val="108000"/>
              </a:lnSpc>
              <a:buNone/>
            </a:pPr>
            <a:r>
              <a:rPr lang="en-US" sz="1250" dirty="0">
                <a:solidFill>
                  <a:srgbClr val="3A3F47"/>
                </a:solidFill>
                <a:latin typeface="Calibri" pitchFamily="34" charset="0"/>
                <a:ea typeface="Calibri" pitchFamily="34" charset="-122"/>
                <a:cs typeface="Calibri" pitchFamily="34" charset="-120"/>
              </a:rPr>
              <a:t>“Is this answer wrong?” → fraction wrong requires N replications from the LLM judge, with agreement above x/n against human expert judgment before you trust the number.</a:t>
            </a:r>
            <a:endParaRPr lang="en-US" sz="1250" dirty="0"/>
          </a:p>
        </p:txBody>
      </p:sp>
      <p:sp>
        <p:nvSpPr>
          <p:cNvPr id="14" name="Shape 10"/>
          <p:cNvSpPr/>
          <p:nvPr/>
        </p:nvSpPr>
        <p:spPr>
          <a:xfrm>
            <a:off x="566928" y="3977640"/>
            <a:ext cx="5394960" cy="2148840"/>
          </a:xfrm>
          <a:prstGeom prst="roundRect">
            <a:avLst>
              <a:gd name="adj" fmla="val 4255"/>
            </a:avLst>
          </a:prstGeom>
          <a:solidFill>
            <a:srgbClr val="EEF0F3"/>
          </a:solidFill>
          <a:ln w="12700">
            <a:solidFill>
              <a:srgbClr val="D8DCE1"/>
            </a:solidFill>
            <a:prstDash val="solid"/>
          </a:ln>
        </p:spPr>
      </p:sp>
      <p:sp>
        <p:nvSpPr>
          <p:cNvPr id="15" name="Shape 11"/>
          <p:cNvSpPr/>
          <p:nvPr/>
        </p:nvSpPr>
        <p:spPr>
          <a:xfrm>
            <a:off x="841248" y="4251960"/>
            <a:ext cx="713232" cy="713232"/>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1005840" y="4416552"/>
            <a:ext cx="384048" cy="384048"/>
          </a:xfrm>
          <a:prstGeom prst="rect">
            <a:avLst/>
          </a:prstGeom>
        </p:spPr>
      </p:pic>
      <p:sp>
        <p:nvSpPr>
          <p:cNvPr id="17" name="Text 12"/>
          <p:cNvSpPr/>
          <p:nvPr/>
        </p:nvSpPr>
        <p:spPr>
          <a:xfrm>
            <a:off x="1664208" y="4251960"/>
            <a:ext cx="4023360" cy="713232"/>
          </a:xfrm>
          <a:prstGeom prst="rect">
            <a:avLst/>
          </a:prstGeom>
          <a:noFill/>
          <a:ln/>
        </p:spPr>
        <p:txBody>
          <a:bodyPr wrap="square" lIns="0" tIns="0" rIns="0" bIns="0" rtlCol="0" anchor="ctr"/>
          <a:lstStyle/>
          <a:p>
            <a:pPr indent="0" marL="0">
              <a:lnSpc>
                <a:spcPct val="100000"/>
              </a:lnSpc>
              <a:buNone/>
            </a:pPr>
            <a:r>
              <a:rPr lang="en-US" sz="1600" b="1" dirty="0">
                <a:solidFill>
                  <a:srgbClr val="23272E"/>
                </a:solidFill>
                <a:latin typeface="Calibri" pitchFamily="34" charset="0"/>
                <a:ea typeface="Calibri" pitchFamily="34" charset="-122"/>
                <a:cs typeface="Calibri" pitchFamily="34" charset="-120"/>
              </a:rPr>
              <a:t>Interpretation of results</a:t>
            </a:r>
            <a:endParaRPr lang="en-US" sz="1600" dirty="0"/>
          </a:p>
        </p:txBody>
      </p:sp>
      <p:sp>
        <p:nvSpPr>
          <p:cNvPr id="18" name="Text 13"/>
          <p:cNvSpPr/>
          <p:nvPr/>
        </p:nvSpPr>
        <p:spPr>
          <a:xfrm>
            <a:off x="859536" y="5120640"/>
            <a:ext cx="4809744" cy="868680"/>
          </a:xfrm>
          <a:prstGeom prst="rect">
            <a:avLst/>
          </a:prstGeom>
          <a:noFill/>
          <a:ln/>
        </p:spPr>
        <p:txBody>
          <a:bodyPr wrap="square" lIns="0" tIns="0" rIns="0" bIns="0" rtlCol="0" anchor="t"/>
          <a:lstStyle/>
          <a:p>
            <a:pPr indent="0" marL="0">
              <a:lnSpc>
                <a:spcPct val="108000"/>
              </a:lnSpc>
              <a:buNone/>
            </a:pPr>
            <a:r>
              <a:rPr lang="en-US" sz="1250" dirty="0">
                <a:solidFill>
                  <a:srgbClr val="3A3F47"/>
                </a:solidFill>
                <a:latin typeface="Calibri" pitchFamily="34" charset="0"/>
                <a:ea typeface="Calibri" pitchFamily="34" charset="-122"/>
                <a:cs typeface="Calibri" pitchFamily="34" charset="-120"/>
              </a:rPr>
              <a:t>Analysis and takeaways still require human experts reading results against business context, experience, and motivations.</a:t>
            </a:r>
            <a:endParaRPr lang="en-US" sz="1250" dirty="0"/>
          </a:p>
        </p:txBody>
      </p:sp>
      <p:sp>
        <p:nvSpPr>
          <p:cNvPr id="19" name="Shape 14"/>
          <p:cNvSpPr/>
          <p:nvPr/>
        </p:nvSpPr>
        <p:spPr>
          <a:xfrm>
            <a:off x="6281928" y="3977640"/>
            <a:ext cx="5394960" cy="2148840"/>
          </a:xfrm>
          <a:prstGeom prst="roundRect">
            <a:avLst>
              <a:gd name="adj" fmla="val 4255"/>
            </a:avLst>
          </a:prstGeom>
          <a:solidFill>
            <a:srgbClr val="EEF0F3"/>
          </a:solidFill>
          <a:ln w="12700">
            <a:solidFill>
              <a:srgbClr val="D8DCE1"/>
            </a:solidFill>
            <a:prstDash val="solid"/>
          </a:ln>
        </p:spPr>
      </p:sp>
      <p:sp>
        <p:nvSpPr>
          <p:cNvPr id="20" name="Shape 15"/>
          <p:cNvSpPr/>
          <p:nvPr/>
        </p:nvSpPr>
        <p:spPr>
          <a:xfrm>
            <a:off x="6556248" y="4251960"/>
            <a:ext cx="713232" cy="713232"/>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6720840" y="4416552"/>
            <a:ext cx="384048" cy="384048"/>
          </a:xfrm>
          <a:prstGeom prst="rect">
            <a:avLst/>
          </a:prstGeom>
        </p:spPr>
      </p:pic>
      <p:sp>
        <p:nvSpPr>
          <p:cNvPr id="22" name="Text 16"/>
          <p:cNvSpPr/>
          <p:nvPr/>
        </p:nvSpPr>
        <p:spPr>
          <a:xfrm>
            <a:off x="7379208" y="4251960"/>
            <a:ext cx="4023360" cy="713232"/>
          </a:xfrm>
          <a:prstGeom prst="rect">
            <a:avLst/>
          </a:prstGeom>
          <a:noFill/>
          <a:ln/>
        </p:spPr>
        <p:txBody>
          <a:bodyPr wrap="square" lIns="0" tIns="0" rIns="0" bIns="0" rtlCol="0" anchor="ctr"/>
          <a:lstStyle/>
          <a:p>
            <a:pPr indent="0" marL="0">
              <a:lnSpc>
                <a:spcPct val="100000"/>
              </a:lnSpc>
              <a:buNone/>
            </a:pPr>
            <a:r>
              <a:rPr lang="en-US" sz="1600" b="1" dirty="0">
                <a:solidFill>
                  <a:srgbClr val="23272E"/>
                </a:solidFill>
                <a:latin typeface="Calibri" pitchFamily="34" charset="0"/>
                <a:ea typeface="Calibri" pitchFamily="34" charset="-122"/>
                <a:cs typeface="Calibri" pitchFamily="34" charset="-120"/>
              </a:rPr>
              <a:t>Communication</a:t>
            </a:r>
            <a:endParaRPr lang="en-US" sz="1600" dirty="0"/>
          </a:p>
        </p:txBody>
      </p:sp>
      <p:sp>
        <p:nvSpPr>
          <p:cNvPr id="23" name="Text 17"/>
          <p:cNvSpPr/>
          <p:nvPr/>
        </p:nvSpPr>
        <p:spPr>
          <a:xfrm>
            <a:off x="6574536" y="5120640"/>
            <a:ext cx="4809744" cy="868680"/>
          </a:xfrm>
          <a:prstGeom prst="rect">
            <a:avLst/>
          </a:prstGeom>
          <a:noFill/>
          <a:ln/>
        </p:spPr>
        <p:txBody>
          <a:bodyPr wrap="square" lIns="0" tIns="0" rIns="0" bIns="0" rtlCol="0" anchor="t"/>
          <a:lstStyle/>
          <a:p>
            <a:pPr indent="0" marL="0">
              <a:lnSpc>
                <a:spcPct val="108000"/>
              </a:lnSpc>
              <a:buNone/>
            </a:pPr>
            <a:r>
              <a:rPr lang="en-US" sz="1250" dirty="0">
                <a:solidFill>
                  <a:srgbClr val="3A3F47"/>
                </a:solidFill>
                <a:latin typeface="Calibri" pitchFamily="34" charset="0"/>
                <a:ea typeface="Calibri" pitchFamily="34" charset="-122"/>
                <a:cs typeface="Calibri" pitchFamily="34" charset="-120"/>
              </a:rPr>
              <a:t>The last mile is always human-to-human: findings land with your customers — internal or external — only if a person can tell the story.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3272E"/>
        </a:solidFill>
      </p:bgPr>
    </p:bg>
    <p:spTree>
      <p:nvGrpSpPr>
        <p:cNvPr id="1" name=""/>
        <p:cNvGrpSpPr/>
        <p:nvPr/>
      </p:nvGrpSpPr>
      <p:grpSpPr>
        <a:xfrm>
          <a:off x="0" y="0"/>
          <a:ext cx="0" cy="0"/>
          <a:chOff x="0" y="0"/>
          <a:chExt cx="0" cy="0"/>
        </a:xfrm>
      </p:grpSpPr>
      <p:sp>
        <p:nvSpPr>
          <p:cNvPr id="2" name="Text 0"/>
          <p:cNvSpPr/>
          <p:nvPr/>
        </p:nvSpPr>
        <p:spPr>
          <a:xfrm>
            <a:off x="658368" y="320040"/>
            <a:ext cx="10972800" cy="274320"/>
          </a:xfrm>
          <a:prstGeom prst="rect">
            <a:avLst/>
          </a:prstGeom>
          <a:noFill/>
          <a:ln/>
        </p:spPr>
        <p:txBody>
          <a:bodyPr wrap="square" lIns="0" tIns="0" rIns="0" bIns="0" rtlCol="0" anchor="ctr"/>
          <a:lstStyle/>
          <a:p>
            <a:pPr indent="0" marL="0">
              <a:buNone/>
            </a:pPr>
            <a:r>
              <a:rPr lang="en-US" sz="1100" b="1" spc="300" kern="0" dirty="0">
                <a:solidFill>
                  <a:srgbClr val="D97706"/>
                </a:solidFill>
                <a:latin typeface="Calibri" pitchFamily="34" charset="0"/>
                <a:ea typeface="Calibri" pitchFamily="34" charset="-122"/>
                <a:cs typeface="Calibri" pitchFamily="34" charset="-120"/>
              </a:rPr>
              <a:t>PHASE 1  ·  SELECTION</a:t>
            </a:r>
            <a:endParaRPr lang="en-US" sz="1100" dirty="0"/>
          </a:p>
        </p:txBody>
      </p:sp>
      <p:sp>
        <p:nvSpPr>
          <p:cNvPr id="3" name="Text 1"/>
          <p:cNvSpPr/>
          <p:nvPr/>
        </p:nvSpPr>
        <p:spPr>
          <a:xfrm>
            <a:off x="640080" y="64008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Choosing the Right Humans</a:t>
            </a:r>
            <a:endParaRPr lang="en-US" sz="3200" dirty="0"/>
          </a:p>
        </p:txBody>
      </p:sp>
      <p:sp>
        <p:nvSpPr>
          <p:cNvPr id="4" name="Shape 2"/>
          <p:cNvSpPr/>
          <p:nvPr/>
        </p:nvSpPr>
        <p:spPr>
          <a:xfrm>
            <a:off x="493776" y="1965960"/>
            <a:ext cx="3520440" cy="2651760"/>
          </a:xfrm>
          <a:prstGeom prst="roundRect">
            <a:avLst>
              <a:gd name="adj" fmla="val 3448"/>
            </a:avLst>
          </a:prstGeom>
          <a:solidFill>
            <a:srgbClr val="3A3F47"/>
          </a:solidFill>
          <a:ln w="12700">
            <a:solidFill>
              <a:srgbClr val="4E555E"/>
            </a:solidFill>
            <a:prstDash val="solid"/>
          </a:ln>
        </p:spPr>
      </p:sp>
      <p:sp>
        <p:nvSpPr>
          <p:cNvPr id="5" name="Shape 3"/>
          <p:cNvSpPr/>
          <p:nvPr/>
        </p:nvSpPr>
        <p:spPr>
          <a:xfrm>
            <a:off x="768096" y="2240280"/>
            <a:ext cx="713232" cy="713232"/>
          </a:xfrm>
          <a:prstGeom prst="ellipse">
            <a:avLst/>
          </a:prstGeom>
          <a:solidFill>
            <a:srgbClr val="D97706"/>
          </a:solidFill>
          <a:ln/>
        </p:spPr>
      </p:sp>
      <p:pic>
        <p:nvPicPr>
          <p:cNvPr id="6" name="Image 0" descr="preencoded.png">    </p:cNvPr>
          <p:cNvPicPr>
            <a:picLocks noChangeAspect="1"/>
          </p:cNvPicPr>
          <p:nvPr/>
        </p:nvPicPr>
        <p:blipFill>
          <a:blip r:embed="rId1"/>
          <a:stretch>
            <a:fillRect/>
          </a:stretch>
        </p:blipFill>
        <p:spPr>
          <a:xfrm>
            <a:off x="932688" y="2404872"/>
            <a:ext cx="384048" cy="384048"/>
          </a:xfrm>
          <a:prstGeom prst="rect">
            <a:avLst/>
          </a:prstGeom>
        </p:spPr>
      </p:pic>
      <p:sp>
        <p:nvSpPr>
          <p:cNvPr id="7" name="Text 4"/>
          <p:cNvSpPr/>
          <p:nvPr/>
        </p:nvSpPr>
        <p:spPr>
          <a:xfrm>
            <a:off x="1591056" y="2240280"/>
            <a:ext cx="2148840" cy="713232"/>
          </a:xfrm>
          <a:prstGeom prst="rect">
            <a:avLst/>
          </a:prstGeom>
          <a:noFill/>
          <a:ln/>
        </p:spPr>
        <p:txBody>
          <a:bodyPr wrap="square" lIns="0" tIns="0" rIns="0" bIns="0" rtlCol="0" anchor="ctr"/>
          <a:lstStyle/>
          <a:p>
            <a:pPr indent="0" marL="0">
              <a:lnSpc>
                <a:spcPct val="100000"/>
              </a:lnSpc>
              <a:buNone/>
            </a:pPr>
            <a:r>
              <a:rPr lang="en-US" sz="1600" b="1" dirty="0">
                <a:solidFill>
                  <a:srgbClr val="FFFFFF"/>
                </a:solidFill>
                <a:latin typeface="Calibri" pitchFamily="34" charset="0"/>
                <a:ea typeface="Calibri" pitchFamily="34" charset="-122"/>
                <a:cs typeface="Calibri" pitchFamily="34" charset="-120"/>
              </a:rPr>
              <a:t>Accuracy at the right cost</a:t>
            </a:r>
            <a:endParaRPr lang="en-US" sz="1600" dirty="0"/>
          </a:p>
        </p:txBody>
      </p:sp>
      <p:sp>
        <p:nvSpPr>
          <p:cNvPr id="8" name="Text 5"/>
          <p:cNvSpPr/>
          <p:nvPr/>
        </p:nvSpPr>
        <p:spPr>
          <a:xfrm>
            <a:off x="786384" y="3200400"/>
            <a:ext cx="2935224" cy="1554480"/>
          </a:xfrm>
          <a:prstGeom prst="rect">
            <a:avLst/>
          </a:prstGeom>
          <a:noFill/>
          <a:ln/>
        </p:spPr>
        <p:txBody>
          <a:bodyPr wrap="square" lIns="0" tIns="0" rIns="0" bIns="0" rtlCol="0" anchor="t"/>
          <a:lstStyle/>
          <a:p>
            <a:pPr indent="0" marL="0">
              <a:lnSpc>
                <a:spcPct val="112000"/>
              </a:lnSpc>
              <a:buNone/>
            </a:pPr>
            <a:r>
              <a:rPr lang="en-US" sz="1250" dirty="0">
                <a:solidFill>
                  <a:srgbClr val="C9D2DC"/>
                </a:solidFill>
                <a:latin typeface="Calibri" pitchFamily="34" charset="0"/>
                <a:ea typeface="Calibri" pitchFamily="34" charset="-122"/>
                <a:cs typeface="Calibri" pitchFamily="34" charset="-120"/>
              </a:rPr>
              <a:t>Best achievable accuracy per dollar — including ensembles of cheaper raters that outperform single experts. I maintain a small internal benchmark on rater accuracy and would love to see where your pool lands.</a:t>
            </a:r>
            <a:endParaRPr lang="en-US" sz="1250" dirty="0"/>
          </a:p>
        </p:txBody>
      </p:sp>
      <p:sp>
        <p:nvSpPr>
          <p:cNvPr id="9" name="Shape 6"/>
          <p:cNvSpPr/>
          <p:nvPr/>
        </p:nvSpPr>
        <p:spPr>
          <a:xfrm>
            <a:off x="4334256" y="1965960"/>
            <a:ext cx="3520440" cy="2651760"/>
          </a:xfrm>
          <a:prstGeom prst="roundRect">
            <a:avLst>
              <a:gd name="adj" fmla="val 3448"/>
            </a:avLst>
          </a:prstGeom>
          <a:solidFill>
            <a:srgbClr val="3A3F47"/>
          </a:solidFill>
          <a:ln w="12700">
            <a:solidFill>
              <a:srgbClr val="4E555E"/>
            </a:solidFill>
            <a:prstDash val="solid"/>
          </a:ln>
        </p:spPr>
      </p:sp>
      <p:sp>
        <p:nvSpPr>
          <p:cNvPr id="10" name="Shape 7"/>
          <p:cNvSpPr/>
          <p:nvPr/>
        </p:nvSpPr>
        <p:spPr>
          <a:xfrm>
            <a:off x="4608576" y="2240280"/>
            <a:ext cx="713232" cy="713232"/>
          </a:xfrm>
          <a:prstGeom prst="ellipse">
            <a:avLst/>
          </a:prstGeom>
          <a:solidFill>
            <a:srgbClr val="0F766E"/>
          </a:solidFill>
          <a:ln/>
        </p:spPr>
      </p:sp>
      <p:pic>
        <p:nvPicPr>
          <p:cNvPr id="11" name="Image 1" descr="preencoded.png">    </p:cNvPr>
          <p:cNvPicPr>
            <a:picLocks noChangeAspect="1"/>
          </p:cNvPicPr>
          <p:nvPr/>
        </p:nvPicPr>
        <p:blipFill>
          <a:blip r:embed="rId2"/>
          <a:stretch>
            <a:fillRect/>
          </a:stretch>
        </p:blipFill>
        <p:spPr>
          <a:xfrm>
            <a:off x="4773168" y="2404872"/>
            <a:ext cx="384048" cy="384048"/>
          </a:xfrm>
          <a:prstGeom prst="rect">
            <a:avLst/>
          </a:prstGeom>
        </p:spPr>
      </p:pic>
      <p:sp>
        <p:nvSpPr>
          <p:cNvPr id="12" name="Text 8"/>
          <p:cNvSpPr/>
          <p:nvPr/>
        </p:nvSpPr>
        <p:spPr>
          <a:xfrm>
            <a:off x="5431536" y="2240280"/>
            <a:ext cx="2148840" cy="713232"/>
          </a:xfrm>
          <a:prstGeom prst="rect">
            <a:avLst/>
          </a:prstGeom>
          <a:noFill/>
          <a:ln/>
        </p:spPr>
        <p:txBody>
          <a:bodyPr wrap="square" lIns="0" tIns="0" rIns="0" bIns="0" rtlCol="0" anchor="ctr"/>
          <a:lstStyle/>
          <a:p>
            <a:pPr indent="0" marL="0">
              <a:lnSpc>
                <a:spcPct val="100000"/>
              </a:lnSpc>
              <a:buNone/>
            </a:pPr>
            <a:r>
              <a:rPr lang="en-US" sz="1600" b="1" dirty="0">
                <a:solidFill>
                  <a:srgbClr val="FFFFFF"/>
                </a:solidFill>
                <a:latin typeface="Calibri" pitchFamily="34" charset="0"/>
                <a:ea typeface="Calibri" pitchFamily="34" charset="-122"/>
                <a:cs typeface="Calibri" pitchFamily="34" charset="-120"/>
              </a:rPr>
              <a:t>Scalability</a:t>
            </a:r>
            <a:endParaRPr lang="en-US" sz="1600" dirty="0"/>
          </a:p>
        </p:txBody>
      </p:sp>
      <p:sp>
        <p:nvSpPr>
          <p:cNvPr id="13" name="Text 9"/>
          <p:cNvSpPr/>
          <p:nvPr/>
        </p:nvSpPr>
        <p:spPr>
          <a:xfrm>
            <a:off x="4626864" y="3200400"/>
            <a:ext cx="2935224" cy="1554480"/>
          </a:xfrm>
          <a:prstGeom prst="rect">
            <a:avLst/>
          </a:prstGeom>
          <a:noFill/>
          <a:ln/>
        </p:spPr>
        <p:txBody>
          <a:bodyPr wrap="square" lIns="0" tIns="0" rIns="0" bIns="0" rtlCol="0" anchor="t"/>
          <a:lstStyle/>
          <a:p>
            <a:pPr indent="0" marL="0">
              <a:lnSpc>
                <a:spcPct val="112000"/>
              </a:lnSpc>
              <a:buNone/>
            </a:pPr>
            <a:r>
              <a:rPr lang="en-US" sz="1250" dirty="0">
                <a:solidFill>
                  <a:srgbClr val="C9D2DC"/>
                </a:solidFill>
                <a:latin typeface="Calibri" pitchFamily="34" charset="0"/>
                <a:ea typeface="Calibri" pitchFamily="34" charset="-122"/>
                <a:cs typeface="Calibri" pitchFamily="34" charset="-120"/>
              </a:rPr>
              <a:t>Volume when we need it, i18n coverage across locales, and breadth across fast-moving use cases — without recalibrating from scratch each time.</a:t>
            </a:r>
            <a:endParaRPr lang="en-US" sz="1250" dirty="0"/>
          </a:p>
        </p:txBody>
      </p:sp>
      <p:sp>
        <p:nvSpPr>
          <p:cNvPr id="14" name="Shape 10"/>
          <p:cNvSpPr/>
          <p:nvPr/>
        </p:nvSpPr>
        <p:spPr>
          <a:xfrm>
            <a:off x="8174736" y="1965960"/>
            <a:ext cx="3520440" cy="2651760"/>
          </a:xfrm>
          <a:prstGeom prst="roundRect">
            <a:avLst>
              <a:gd name="adj" fmla="val 3448"/>
            </a:avLst>
          </a:prstGeom>
          <a:solidFill>
            <a:srgbClr val="3A3F47"/>
          </a:solidFill>
          <a:ln w="12700">
            <a:solidFill>
              <a:srgbClr val="4E555E"/>
            </a:solidFill>
            <a:prstDash val="solid"/>
          </a:ln>
        </p:spPr>
      </p:sp>
      <p:sp>
        <p:nvSpPr>
          <p:cNvPr id="15" name="Shape 11"/>
          <p:cNvSpPr/>
          <p:nvPr/>
        </p:nvSpPr>
        <p:spPr>
          <a:xfrm>
            <a:off x="8449056" y="2240280"/>
            <a:ext cx="713232" cy="713232"/>
          </a:xfrm>
          <a:prstGeom prst="ellipse">
            <a:avLst/>
          </a:prstGeom>
          <a:solidFill>
            <a:srgbClr val="0F766E"/>
          </a:solidFill>
          <a:ln/>
        </p:spPr>
      </p:sp>
      <p:pic>
        <p:nvPicPr>
          <p:cNvPr id="16" name="Image 2" descr="preencoded.png">    </p:cNvPr>
          <p:cNvPicPr>
            <a:picLocks noChangeAspect="1"/>
          </p:cNvPicPr>
          <p:nvPr/>
        </p:nvPicPr>
        <p:blipFill>
          <a:blip r:embed="rId3"/>
          <a:stretch>
            <a:fillRect/>
          </a:stretch>
        </p:blipFill>
        <p:spPr>
          <a:xfrm>
            <a:off x="8613648" y="2404872"/>
            <a:ext cx="384048" cy="384048"/>
          </a:xfrm>
          <a:prstGeom prst="rect">
            <a:avLst/>
          </a:prstGeom>
        </p:spPr>
      </p:pic>
      <p:sp>
        <p:nvSpPr>
          <p:cNvPr id="17" name="Text 12"/>
          <p:cNvSpPr/>
          <p:nvPr/>
        </p:nvSpPr>
        <p:spPr>
          <a:xfrm>
            <a:off x="9272016" y="2240280"/>
            <a:ext cx="2148840" cy="713232"/>
          </a:xfrm>
          <a:prstGeom prst="rect">
            <a:avLst/>
          </a:prstGeom>
          <a:noFill/>
          <a:ln/>
        </p:spPr>
        <p:txBody>
          <a:bodyPr wrap="square" lIns="0" tIns="0" rIns="0" bIns="0" rtlCol="0" anchor="ctr"/>
          <a:lstStyle/>
          <a:p>
            <a:pPr indent="0" marL="0">
              <a:lnSpc>
                <a:spcPct val="100000"/>
              </a:lnSpc>
              <a:buNone/>
            </a:pPr>
            <a:r>
              <a:rPr lang="en-US" sz="1600" b="1" dirty="0">
                <a:solidFill>
                  <a:srgbClr val="FFFFFF"/>
                </a:solidFill>
                <a:latin typeface="Calibri" pitchFamily="34" charset="0"/>
                <a:ea typeface="Calibri" pitchFamily="34" charset="-122"/>
                <a:cs typeface="Calibri" pitchFamily="34" charset="-120"/>
              </a:rPr>
              <a:t>Integration</a:t>
            </a:r>
            <a:endParaRPr lang="en-US" sz="1600" dirty="0"/>
          </a:p>
        </p:txBody>
      </p:sp>
      <p:sp>
        <p:nvSpPr>
          <p:cNvPr id="18" name="Text 13"/>
          <p:cNvSpPr/>
          <p:nvPr/>
        </p:nvSpPr>
        <p:spPr>
          <a:xfrm>
            <a:off x="8467344" y="3200400"/>
            <a:ext cx="2935224" cy="1554480"/>
          </a:xfrm>
          <a:prstGeom prst="rect">
            <a:avLst/>
          </a:prstGeom>
          <a:noFill/>
          <a:ln/>
        </p:spPr>
        <p:txBody>
          <a:bodyPr wrap="square" lIns="0" tIns="0" rIns="0" bIns="0" rtlCol="0" anchor="t"/>
          <a:lstStyle/>
          <a:p>
            <a:pPr indent="0" marL="0">
              <a:lnSpc>
                <a:spcPct val="112000"/>
              </a:lnSpc>
              <a:buNone/>
            </a:pPr>
            <a:r>
              <a:rPr lang="en-US" sz="1250" dirty="0">
                <a:solidFill>
                  <a:srgbClr val="C9D2DC"/>
                </a:solidFill>
                <a:latin typeface="Calibri" pitchFamily="34" charset="0"/>
                <a:ea typeface="Calibri" pitchFamily="34" charset="-122"/>
                <a:cs typeface="Calibri" pitchFamily="34" charset="-120"/>
              </a:rPr>
              <a:t>Plug into our internal infra and rating tooling — or bring a genuinely white-glove managed experience. The costly middle ground is neither.</a:t>
            </a:r>
            <a:endParaRPr lang="en-US" sz="1250" dirty="0"/>
          </a:p>
        </p:txBody>
      </p:sp>
      <p:sp>
        <p:nvSpPr>
          <p:cNvPr id="19" name="Text 14"/>
          <p:cNvSpPr/>
          <p:nvPr/>
        </p:nvSpPr>
        <p:spPr>
          <a:xfrm>
            <a:off x="640080" y="5074920"/>
            <a:ext cx="10972800" cy="457200"/>
          </a:xfrm>
          <a:prstGeom prst="rect">
            <a:avLst/>
          </a:prstGeom>
          <a:noFill/>
          <a:ln/>
        </p:spPr>
        <p:txBody>
          <a:bodyPr wrap="square" lIns="0" tIns="0" rIns="0" bIns="0" rtlCol="0" anchor="ctr"/>
          <a:lstStyle/>
          <a:p>
            <a:pPr algn="ctr" indent="0" marL="0">
              <a:buNone/>
            </a:pPr>
            <a:r>
              <a:rPr lang="en-US" sz="1500" i="1" dirty="0">
                <a:solidFill>
                  <a:srgbClr val="D97706"/>
                </a:solidFill>
                <a:latin typeface="Calibri" pitchFamily="34" charset="0"/>
                <a:ea typeface="Calibri" pitchFamily="34" charset="-122"/>
                <a:cs typeface="Calibri" pitchFamily="34" charset="-120"/>
              </a:rPr>
              <a:t>Selection gets you a starting point. What follows is what actually holds quality steady.</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10972800" cy="274320"/>
          </a:xfrm>
          <a:prstGeom prst="rect">
            <a:avLst/>
          </a:prstGeom>
          <a:noFill/>
          <a:ln/>
        </p:spPr>
        <p:txBody>
          <a:bodyPr wrap="square" lIns="0" tIns="0" rIns="0" bIns="0" rtlCol="0" anchor="ctr"/>
          <a:lstStyle/>
          <a:p>
            <a:pPr indent="0" marL="0">
              <a:buNone/>
            </a:pPr>
            <a:r>
              <a:rPr lang="en-US" sz="1100" b="1" spc="300" kern="0" dirty="0">
                <a:solidFill>
                  <a:srgbClr val="D97706"/>
                </a:solidFill>
                <a:latin typeface="Calibri" pitchFamily="34" charset="0"/>
                <a:ea typeface="Calibri" pitchFamily="34" charset="-122"/>
                <a:cs typeface="Calibri" pitchFamily="34" charset="-120"/>
              </a:rPr>
              <a:t>PHASE 2 · ONBOARDING, SCALING &amp; MAINTENANCE</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23272E"/>
                </a:solidFill>
                <a:latin typeface="Cambria" pitchFamily="34" charset="0"/>
                <a:ea typeface="Cambria" pitchFamily="34" charset="-122"/>
                <a:cs typeface="Cambria" pitchFamily="34" charset="-120"/>
              </a:rPr>
              <a:t>Quality Is a Program, Not a Purchase</a:t>
            </a:r>
            <a:endParaRPr lang="en-US" sz="3000" dirty="0"/>
          </a:p>
        </p:txBody>
      </p:sp>
      <p:sp>
        <p:nvSpPr>
          <p:cNvPr id="4" name="Shape 2"/>
          <p:cNvSpPr/>
          <p:nvPr/>
        </p:nvSpPr>
        <p:spPr>
          <a:xfrm>
            <a:off x="566928" y="1463040"/>
            <a:ext cx="5394960" cy="2011680"/>
          </a:xfrm>
          <a:prstGeom prst="roundRect">
            <a:avLst>
              <a:gd name="adj" fmla="val 4545"/>
            </a:avLst>
          </a:prstGeom>
          <a:solidFill>
            <a:srgbClr val="EEF0F3"/>
          </a:solidFill>
          <a:ln w="12700">
            <a:solidFill>
              <a:srgbClr val="D8DCE1"/>
            </a:solidFill>
            <a:prstDash val="solid"/>
          </a:ln>
        </p:spPr>
      </p:sp>
      <p:sp>
        <p:nvSpPr>
          <p:cNvPr id="5" name="Text 3"/>
          <p:cNvSpPr/>
          <p:nvPr/>
        </p:nvSpPr>
        <p:spPr>
          <a:xfrm>
            <a:off x="841248" y="1737360"/>
            <a:ext cx="713232" cy="713232"/>
          </a:xfrm>
          <a:prstGeom prst="ellipse">
            <a:avLst/>
          </a:prstGeom>
          <a:solidFill>
            <a:srgbClr val="D97706"/>
          </a:solid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1664208" y="1737360"/>
            <a:ext cx="4023360" cy="713232"/>
          </a:xfrm>
          <a:prstGeom prst="rect">
            <a:avLst/>
          </a:prstGeom>
          <a:noFill/>
          <a:ln/>
        </p:spPr>
        <p:txBody>
          <a:bodyPr wrap="square" lIns="0" tIns="0" rIns="0" bIns="0" rtlCol="0" anchor="ctr"/>
          <a:lstStyle/>
          <a:p>
            <a:pPr indent="0" marL="0">
              <a:lnSpc>
                <a:spcPct val="100000"/>
              </a:lnSpc>
              <a:buNone/>
            </a:pPr>
            <a:r>
              <a:rPr lang="en-US" sz="1600" b="1" dirty="0">
                <a:solidFill>
                  <a:srgbClr val="23272E"/>
                </a:solidFill>
                <a:latin typeface="Calibri" pitchFamily="34" charset="0"/>
                <a:ea typeface="Calibri" pitchFamily="34" charset="-122"/>
                <a:cs typeface="Calibri" pitchFamily="34" charset="-120"/>
              </a:rPr>
              <a:t>Onboard before production</a:t>
            </a:r>
            <a:endParaRPr lang="en-US" sz="1600" dirty="0"/>
          </a:p>
        </p:txBody>
      </p:sp>
      <p:sp>
        <p:nvSpPr>
          <p:cNvPr id="7" name="Text 5"/>
          <p:cNvSpPr/>
          <p:nvPr/>
        </p:nvSpPr>
        <p:spPr>
          <a:xfrm>
            <a:off x="859536" y="2606040"/>
            <a:ext cx="4809744" cy="777240"/>
          </a:xfrm>
          <a:prstGeom prst="rect">
            <a:avLst/>
          </a:prstGeom>
          <a:noFill/>
          <a:ln/>
        </p:spPr>
        <p:txBody>
          <a:bodyPr wrap="square" lIns="0" tIns="0" rIns="0" bIns="0" rtlCol="0" anchor="t"/>
          <a:lstStyle/>
          <a:p>
            <a:pPr indent="0" marL="0">
              <a:lnSpc>
                <a:spcPct val="108000"/>
              </a:lnSpc>
              <a:buNone/>
            </a:pPr>
            <a:r>
              <a:rPr lang="en-US" sz="1250" dirty="0">
                <a:solidFill>
                  <a:srgbClr val="3A3F47"/>
                </a:solidFill>
                <a:latin typeface="Calibri" pitchFamily="34" charset="0"/>
                <a:ea typeface="Calibri" pitchFamily="34" charset="-122"/>
                <a:cs typeface="Calibri" pitchFamily="34" charset="-120"/>
              </a:rPr>
              <a:t>Rater entrance exams gate access to live tasks. Rating guidelines carry worked examples, not just prose definitions — examples are what actually transfer.</a:t>
            </a:r>
            <a:endParaRPr lang="en-US" sz="1250" dirty="0"/>
          </a:p>
        </p:txBody>
      </p:sp>
      <p:sp>
        <p:nvSpPr>
          <p:cNvPr id="8" name="Shape 6"/>
          <p:cNvSpPr/>
          <p:nvPr/>
        </p:nvSpPr>
        <p:spPr>
          <a:xfrm>
            <a:off x="6281928" y="1463040"/>
            <a:ext cx="5394960" cy="2011680"/>
          </a:xfrm>
          <a:prstGeom prst="roundRect">
            <a:avLst>
              <a:gd name="adj" fmla="val 4545"/>
            </a:avLst>
          </a:prstGeom>
          <a:solidFill>
            <a:srgbClr val="EEF0F3"/>
          </a:solidFill>
          <a:ln w="12700">
            <a:solidFill>
              <a:srgbClr val="D8DCE1"/>
            </a:solidFill>
            <a:prstDash val="solid"/>
          </a:ln>
        </p:spPr>
      </p:sp>
      <p:sp>
        <p:nvSpPr>
          <p:cNvPr id="9" name="Text 7"/>
          <p:cNvSpPr/>
          <p:nvPr/>
        </p:nvSpPr>
        <p:spPr>
          <a:xfrm>
            <a:off x="6556248" y="1737360"/>
            <a:ext cx="713232" cy="713232"/>
          </a:xfrm>
          <a:prstGeom prst="ellipse">
            <a:avLst/>
          </a:prstGeom>
          <a:solidFill>
            <a:srgbClr val="0F766E"/>
          </a:solid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0" name="Text 8"/>
          <p:cNvSpPr/>
          <p:nvPr/>
        </p:nvSpPr>
        <p:spPr>
          <a:xfrm>
            <a:off x="7379208" y="1737360"/>
            <a:ext cx="4023360" cy="713232"/>
          </a:xfrm>
          <a:prstGeom prst="rect">
            <a:avLst/>
          </a:prstGeom>
          <a:noFill/>
          <a:ln/>
        </p:spPr>
        <p:txBody>
          <a:bodyPr wrap="square" lIns="0" tIns="0" rIns="0" bIns="0" rtlCol="0" anchor="ctr"/>
          <a:lstStyle/>
          <a:p>
            <a:pPr indent="0" marL="0">
              <a:lnSpc>
                <a:spcPct val="100000"/>
              </a:lnSpc>
              <a:buNone/>
            </a:pPr>
            <a:r>
              <a:rPr lang="en-US" sz="1600" b="1" dirty="0">
                <a:solidFill>
                  <a:srgbClr val="23272E"/>
                </a:solidFill>
                <a:latin typeface="Calibri" pitchFamily="34" charset="0"/>
                <a:ea typeface="Calibri" pitchFamily="34" charset="-122"/>
                <a:cs typeface="Calibri" pitchFamily="34" charset="-120"/>
              </a:rPr>
              <a:t>Monitor continuously</a:t>
            </a:r>
            <a:endParaRPr lang="en-US" sz="1600" dirty="0"/>
          </a:p>
        </p:txBody>
      </p:sp>
      <p:sp>
        <p:nvSpPr>
          <p:cNvPr id="11" name="Text 9"/>
          <p:cNvSpPr/>
          <p:nvPr/>
        </p:nvSpPr>
        <p:spPr>
          <a:xfrm>
            <a:off x="6574536" y="2606040"/>
            <a:ext cx="4809744" cy="777240"/>
          </a:xfrm>
          <a:prstGeom prst="rect">
            <a:avLst/>
          </a:prstGeom>
          <a:noFill/>
          <a:ln/>
        </p:spPr>
        <p:txBody>
          <a:bodyPr wrap="square" lIns="0" tIns="0" rIns="0" bIns="0" rtlCol="0" anchor="t"/>
          <a:lstStyle/>
          <a:p>
            <a:pPr indent="0" marL="0">
              <a:lnSpc>
                <a:spcPct val="108000"/>
              </a:lnSpc>
              <a:buNone/>
            </a:pPr>
            <a:r>
              <a:rPr lang="en-US" sz="1250" dirty="0">
                <a:solidFill>
                  <a:srgbClr val="3A3F47"/>
                </a:solidFill>
                <a:latin typeface="Calibri" pitchFamily="34" charset="0"/>
                <a:ea typeface="Calibri" pitchFamily="34" charset="-122"/>
                <a:cs typeface="Calibri" pitchFamily="34" charset="-120"/>
              </a:rPr>
              <a:t>Automated monitoring across the pool, with human review reserved for flagged raters. Plus small blind ground-truth sets, authored by our internal experts and seeded into live queues.</a:t>
            </a:r>
            <a:endParaRPr lang="en-US" sz="1250" dirty="0"/>
          </a:p>
        </p:txBody>
      </p:sp>
      <p:sp>
        <p:nvSpPr>
          <p:cNvPr id="12" name="Shape 10"/>
          <p:cNvSpPr/>
          <p:nvPr/>
        </p:nvSpPr>
        <p:spPr>
          <a:xfrm>
            <a:off x="566928" y="3749040"/>
            <a:ext cx="5394960" cy="2011680"/>
          </a:xfrm>
          <a:prstGeom prst="roundRect">
            <a:avLst>
              <a:gd name="adj" fmla="val 4545"/>
            </a:avLst>
          </a:prstGeom>
          <a:solidFill>
            <a:srgbClr val="EEF0F3"/>
          </a:solidFill>
          <a:ln w="12700">
            <a:solidFill>
              <a:srgbClr val="D8DCE1"/>
            </a:solidFill>
            <a:prstDash val="solid"/>
          </a:ln>
        </p:spPr>
      </p:sp>
      <p:sp>
        <p:nvSpPr>
          <p:cNvPr id="13" name="Text 11"/>
          <p:cNvSpPr/>
          <p:nvPr/>
        </p:nvSpPr>
        <p:spPr>
          <a:xfrm>
            <a:off x="841248" y="4023360"/>
            <a:ext cx="713232" cy="713232"/>
          </a:xfrm>
          <a:prstGeom prst="ellipse">
            <a:avLst/>
          </a:prstGeom>
          <a:solidFill>
            <a:srgbClr val="D97706"/>
          </a:solid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4" name="Text 12"/>
          <p:cNvSpPr/>
          <p:nvPr/>
        </p:nvSpPr>
        <p:spPr>
          <a:xfrm>
            <a:off x="1664208" y="4023360"/>
            <a:ext cx="4023360" cy="713232"/>
          </a:xfrm>
          <a:prstGeom prst="rect">
            <a:avLst/>
          </a:prstGeom>
          <a:noFill/>
          <a:ln/>
        </p:spPr>
        <p:txBody>
          <a:bodyPr wrap="square" lIns="0" tIns="0" rIns="0" bIns="0" rtlCol="0" anchor="ctr"/>
          <a:lstStyle/>
          <a:p>
            <a:pPr indent="0" marL="0">
              <a:lnSpc>
                <a:spcPct val="100000"/>
              </a:lnSpc>
              <a:buNone/>
            </a:pPr>
            <a:r>
              <a:rPr lang="en-US" sz="1600" b="1" dirty="0">
                <a:solidFill>
                  <a:srgbClr val="23272E"/>
                </a:solidFill>
                <a:latin typeface="Calibri" pitchFamily="34" charset="0"/>
                <a:ea typeface="Calibri" pitchFamily="34" charset="-122"/>
                <a:cs typeface="Calibri" pitchFamily="34" charset="-120"/>
              </a:rPr>
              <a:t>Fix the task before blaming the rater</a:t>
            </a:r>
            <a:endParaRPr lang="en-US" sz="1600" dirty="0"/>
          </a:p>
        </p:txBody>
      </p:sp>
      <p:sp>
        <p:nvSpPr>
          <p:cNvPr id="15" name="Text 13"/>
          <p:cNvSpPr/>
          <p:nvPr/>
        </p:nvSpPr>
        <p:spPr>
          <a:xfrm>
            <a:off x="859536" y="4892040"/>
            <a:ext cx="4809744" cy="777240"/>
          </a:xfrm>
          <a:prstGeom prst="rect">
            <a:avLst/>
          </a:prstGeom>
          <a:noFill/>
          <a:ln/>
        </p:spPr>
        <p:txBody>
          <a:bodyPr wrap="square" lIns="0" tIns="0" rIns="0" bIns="0" rtlCol="0" anchor="t"/>
          <a:lstStyle/>
          <a:p>
            <a:pPr indent="0" marL="0">
              <a:lnSpc>
                <a:spcPct val="108000"/>
              </a:lnSpc>
              <a:buNone/>
            </a:pPr>
            <a:r>
              <a:rPr lang="en-US" sz="1250" dirty="0">
                <a:solidFill>
                  <a:srgbClr val="3A3F47"/>
                </a:solidFill>
                <a:latin typeface="Calibri" pitchFamily="34" charset="0"/>
                <a:ea typeface="Calibri" pitchFamily="34" charset="-122"/>
                <a:cs typeface="Calibri" pitchFamily="34" charset="-120"/>
              </a:rPr>
              <a:t>Task and experiment fixes plus rater education beat firing. A confused rater usually means an ambiguous rubric — that is a signal about our instrument, not their competence.</a:t>
            </a:r>
            <a:endParaRPr lang="en-US" sz="1250" dirty="0"/>
          </a:p>
        </p:txBody>
      </p:sp>
      <p:sp>
        <p:nvSpPr>
          <p:cNvPr id="16" name="Shape 14"/>
          <p:cNvSpPr/>
          <p:nvPr/>
        </p:nvSpPr>
        <p:spPr>
          <a:xfrm>
            <a:off x="6281928" y="3749040"/>
            <a:ext cx="5394960" cy="2011680"/>
          </a:xfrm>
          <a:prstGeom prst="roundRect">
            <a:avLst>
              <a:gd name="adj" fmla="val 4545"/>
            </a:avLst>
          </a:prstGeom>
          <a:solidFill>
            <a:srgbClr val="EEF0F3"/>
          </a:solidFill>
          <a:ln w="12700">
            <a:solidFill>
              <a:srgbClr val="D8DCE1"/>
            </a:solidFill>
            <a:prstDash val="solid"/>
          </a:ln>
        </p:spPr>
      </p:sp>
      <p:sp>
        <p:nvSpPr>
          <p:cNvPr id="17" name="Text 15"/>
          <p:cNvSpPr/>
          <p:nvPr/>
        </p:nvSpPr>
        <p:spPr>
          <a:xfrm>
            <a:off x="6556248" y="4023360"/>
            <a:ext cx="713232" cy="713232"/>
          </a:xfrm>
          <a:prstGeom prst="ellipse">
            <a:avLst/>
          </a:prstGeom>
          <a:solidFill>
            <a:srgbClr val="0F766E"/>
          </a:solid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8" name="Text 16"/>
          <p:cNvSpPr/>
          <p:nvPr/>
        </p:nvSpPr>
        <p:spPr>
          <a:xfrm>
            <a:off x="7379208" y="4023360"/>
            <a:ext cx="4023360" cy="713232"/>
          </a:xfrm>
          <a:prstGeom prst="rect">
            <a:avLst/>
          </a:prstGeom>
          <a:noFill/>
          <a:ln/>
        </p:spPr>
        <p:txBody>
          <a:bodyPr wrap="square" lIns="0" tIns="0" rIns="0" bIns="0" rtlCol="0" anchor="ctr"/>
          <a:lstStyle/>
          <a:p>
            <a:pPr indent="0" marL="0">
              <a:lnSpc>
                <a:spcPct val="100000"/>
              </a:lnSpc>
              <a:buNone/>
            </a:pPr>
            <a:r>
              <a:rPr lang="en-US" sz="1600" b="1" dirty="0">
                <a:solidFill>
                  <a:srgbClr val="23272E"/>
                </a:solidFill>
                <a:latin typeface="Calibri" pitchFamily="34" charset="0"/>
                <a:ea typeface="Calibri" pitchFamily="34" charset="-122"/>
                <a:cs typeface="Calibri" pitchFamily="34" charset="-120"/>
              </a:rPr>
              <a:t>Align the incentives</a:t>
            </a:r>
            <a:endParaRPr lang="en-US" sz="1600" dirty="0"/>
          </a:p>
        </p:txBody>
      </p:sp>
      <p:sp>
        <p:nvSpPr>
          <p:cNvPr id="19" name="Text 17"/>
          <p:cNvSpPr/>
          <p:nvPr/>
        </p:nvSpPr>
        <p:spPr>
          <a:xfrm>
            <a:off x="6574536" y="4892040"/>
            <a:ext cx="4809744" cy="777240"/>
          </a:xfrm>
          <a:prstGeom prst="rect">
            <a:avLst/>
          </a:prstGeom>
          <a:noFill/>
          <a:ln/>
        </p:spPr>
        <p:txBody>
          <a:bodyPr wrap="square" lIns="0" tIns="0" rIns="0" bIns="0" rtlCol="0" anchor="t"/>
          <a:lstStyle/>
          <a:p>
            <a:pPr indent="0" marL="0">
              <a:lnSpc>
                <a:spcPct val="108000"/>
              </a:lnSpc>
              <a:buNone/>
            </a:pPr>
            <a:r>
              <a:rPr lang="en-US" sz="1250" dirty="0">
                <a:solidFill>
                  <a:srgbClr val="3A3F47"/>
                </a:solidFill>
                <a:latin typeface="Calibri" pitchFamily="34" charset="0"/>
                <a:ea typeface="Calibri" pitchFamily="34" charset="-122"/>
                <a:cs typeface="Calibri" pitchFamily="34" charset="-120"/>
              </a:rPr>
              <a:t>Quarterly vendor targets, bonuses, and structured feedback tied to automated quality metrics and exam scores — so the program improves without renegotiating every quarter.</a:t>
            </a:r>
            <a:endParaRPr lang="en-US" sz="1250" dirty="0"/>
          </a:p>
        </p:txBody>
      </p:sp>
      <p:sp>
        <p:nvSpPr>
          <p:cNvPr id="20" name="Shape 18"/>
          <p:cNvSpPr/>
          <p:nvPr/>
        </p:nvSpPr>
        <p:spPr>
          <a:xfrm>
            <a:off x="566928" y="5870448"/>
            <a:ext cx="11064240" cy="685800"/>
          </a:xfrm>
          <a:prstGeom prst="roundRect">
            <a:avLst>
              <a:gd name="adj" fmla="val 12000"/>
            </a:avLst>
          </a:prstGeom>
          <a:solidFill>
            <a:srgbClr val="23272E"/>
          </a:solidFill>
          <a:ln/>
        </p:spPr>
      </p:sp>
      <p:sp>
        <p:nvSpPr>
          <p:cNvPr id="21" name="Text 19"/>
          <p:cNvSpPr/>
          <p:nvPr/>
        </p:nvSpPr>
        <p:spPr>
          <a:xfrm>
            <a:off x="868680" y="5870448"/>
            <a:ext cx="10515600" cy="685800"/>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Discussion:  </a:t>
            </a:r>
            <a:pPr indent="0" marL="0">
              <a:buNone/>
            </a:pPr>
            <a:r>
              <a:rPr lang="en-US" sz="1500" dirty="0">
                <a:solidFill>
                  <a:srgbClr val="FFFFFF"/>
                </a:solidFill>
                <a:latin typeface="Calibri" pitchFamily="34" charset="0"/>
                <a:ea typeface="Calibri" pitchFamily="34" charset="-122"/>
                <a:cs typeface="Calibri" pitchFamily="34" charset="-120"/>
              </a:rPr>
              <a:t>where does your pool land on accuracy × cost × scale — and what does a paid pilot look like?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Cambria</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2026-08-01T23:23:02Z</dcterms:created>
  <dcterms:modified xsi:type="dcterms:W3CDTF">2026-08-01T23:23:02Z</dcterms:modified>
</cp:coreProperties>
</file>